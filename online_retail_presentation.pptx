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79" r:id="rId4"/>
    <p:sldId id="280" r:id="rId5"/>
    <p:sldId id="281" r:id="rId6"/>
    <p:sldId id="270" r:id="rId7"/>
    <p:sldId id="282" r:id="rId8"/>
    <p:sldId id="258" r:id="rId9"/>
    <p:sldId id="259" r:id="rId10"/>
    <p:sldId id="260" r:id="rId11"/>
    <p:sldId id="272" r:id="rId12"/>
    <p:sldId id="273" r:id="rId13"/>
    <p:sldId id="275" r:id="rId14"/>
    <p:sldId id="261" r:id="rId15"/>
    <p:sldId id="262" r:id="rId16"/>
    <p:sldId id="277" r:id="rId17"/>
    <p:sldId id="263" r:id="rId18"/>
    <p:sldId id="264" r:id="rId19"/>
    <p:sldId id="265" r:id="rId20"/>
    <p:sldId id="278" r:id="rId21"/>
    <p:sldId id="266" r:id="rId22"/>
    <p:sldId id="267" r:id="rId23"/>
    <p:sldId id="268" r:id="rId24"/>
    <p:sldId id="269" r:id="rId25"/>
    <p:sldId id="271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03"/>
    <p:restoredTop sz="94759"/>
  </p:normalViewPr>
  <p:slideViewPr>
    <p:cSldViewPr snapToGrid="0" snapToObjects="1">
      <p:cViewPr varScale="1">
        <p:scale>
          <a:sx n="102" d="100"/>
          <a:sy n="102" d="100"/>
        </p:scale>
        <p:origin x="2112" y="4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64F4007-B11B-491D-BA8C-E5AC2169C01A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060A44D6-6B22-4F8B-8E8B-CEE5F96229C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Top-selling products</a:t>
          </a:r>
        </a:p>
      </dgm:t>
    </dgm:pt>
    <dgm:pt modelId="{3598042B-4B98-4EE0-95B3-58C0AE592610}" type="parTrans" cxnId="{FF5D8B68-94DA-4FF3-936A-7BE73333E46A}">
      <dgm:prSet/>
      <dgm:spPr/>
      <dgm:t>
        <a:bodyPr/>
        <a:lstStyle/>
        <a:p>
          <a:endParaRPr lang="en-US"/>
        </a:p>
      </dgm:t>
    </dgm:pt>
    <dgm:pt modelId="{9AAB575F-C199-426A-86D0-21E15382B55F}" type="sibTrans" cxnId="{FF5D8B68-94DA-4FF3-936A-7BE73333E46A}">
      <dgm:prSet/>
      <dgm:spPr/>
      <dgm:t>
        <a:bodyPr/>
        <a:lstStyle/>
        <a:p>
          <a:endParaRPr lang="en-US"/>
        </a:p>
      </dgm:t>
    </dgm:pt>
    <dgm:pt modelId="{EB85C335-26CC-40FC-A9CC-7A5B7D91883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Revenue by country</a:t>
          </a:r>
        </a:p>
      </dgm:t>
    </dgm:pt>
    <dgm:pt modelId="{94FBB8D7-A0FD-45B8-97E5-4F7806C8A900}" type="parTrans" cxnId="{3F114CA9-D961-4E4B-BA71-B4E8559D7E16}">
      <dgm:prSet/>
      <dgm:spPr/>
      <dgm:t>
        <a:bodyPr/>
        <a:lstStyle/>
        <a:p>
          <a:endParaRPr lang="en-US"/>
        </a:p>
      </dgm:t>
    </dgm:pt>
    <dgm:pt modelId="{CD00FDC3-860B-498D-AB7F-957B21EC534B}" type="sibTrans" cxnId="{3F114CA9-D961-4E4B-BA71-B4E8559D7E16}">
      <dgm:prSet/>
      <dgm:spPr/>
      <dgm:t>
        <a:bodyPr/>
        <a:lstStyle/>
        <a:p>
          <a:endParaRPr lang="en-US"/>
        </a:p>
      </dgm:t>
    </dgm:pt>
    <dgm:pt modelId="{FAD0D9E8-6BD2-447B-9F3A-40350542325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Quantity vs Price correlation plot</a:t>
          </a:r>
        </a:p>
      </dgm:t>
    </dgm:pt>
    <dgm:pt modelId="{26203CE6-B7F0-4B34-BC2E-12575241C6AC}" type="parTrans" cxnId="{E6514587-93E2-4AF9-ACAA-62F2C59777CB}">
      <dgm:prSet/>
      <dgm:spPr/>
      <dgm:t>
        <a:bodyPr/>
        <a:lstStyle/>
        <a:p>
          <a:endParaRPr lang="en-US"/>
        </a:p>
      </dgm:t>
    </dgm:pt>
    <dgm:pt modelId="{5B0CB2D6-454E-4580-8C4F-C42A33A72D19}" type="sibTrans" cxnId="{E6514587-93E2-4AF9-ACAA-62F2C59777CB}">
      <dgm:prSet/>
      <dgm:spPr/>
      <dgm:t>
        <a:bodyPr/>
        <a:lstStyle/>
        <a:p>
          <a:endParaRPr lang="en-US"/>
        </a:p>
      </dgm:t>
    </dgm:pt>
    <dgm:pt modelId="{50194DFC-3C90-4EEA-95AD-147B83BF349B}" type="pres">
      <dgm:prSet presAssocID="{D64F4007-B11B-491D-BA8C-E5AC2169C01A}" presName="root" presStyleCnt="0">
        <dgm:presLayoutVars>
          <dgm:dir/>
          <dgm:resizeHandles val="exact"/>
        </dgm:presLayoutVars>
      </dgm:prSet>
      <dgm:spPr/>
    </dgm:pt>
    <dgm:pt modelId="{24FED44F-4E75-4EC3-8982-81465D897E18}" type="pres">
      <dgm:prSet presAssocID="{060A44D6-6B22-4F8B-8E8B-CEE5F96229C2}" presName="compNode" presStyleCnt="0"/>
      <dgm:spPr/>
    </dgm:pt>
    <dgm:pt modelId="{A24EDC72-87BC-4CE1-9892-2AFDA5FD4924}" type="pres">
      <dgm:prSet presAssocID="{060A44D6-6B22-4F8B-8E8B-CEE5F96229C2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8B819A07-B181-4707-84B2-08F33BAF2E23}" type="pres">
      <dgm:prSet presAssocID="{060A44D6-6B22-4F8B-8E8B-CEE5F96229C2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g"/>
        </a:ext>
      </dgm:extLst>
    </dgm:pt>
    <dgm:pt modelId="{360138FC-9D8D-4C05-9081-67E4E7818B9C}" type="pres">
      <dgm:prSet presAssocID="{060A44D6-6B22-4F8B-8E8B-CEE5F96229C2}" presName="spaceRect" presStyleCnt="0"/>
      <dgm:spPr/>
    </dgm:pt>
    <dgm:pt modelId="{48A41593-79EC-4D7E-9C00-10A52EACF5BE}" type="pres">
      <dgm:prSet presAssocID="{060A44D6-6B22-4F8B-8E8B-CEE5F96229C2}" presName="textRect" presStyleLbl="revTx" presStyleIdx="0" presStyleCnt="3">
        <dgm:presLayoutVars>
          <dgm:chMax val="1"/>
          <dgm:chPref val="1"/>
        </dgm:presLayoutVars>
      </dgm:prSet>
      <dgm:spPr/>
    </dgm:pt>
    <dgm:pt modelId="{F4D4C63B-3782-446F-BC6A-36AEEFB92C63}" type="pres">
      <dgm:prSet presAssocID="{9AAB575F-C199-426A-86D0-21E15382B55F}" presName="sibTrans" presStyleCnt="0"/>
      <dgm:spPr/>
    </dgm:pt>
    <dgm:pt modelId="{C6AF8C9F-CB77-40E3-8956-3227B996BD40}" type="pres">
      <dgm:prSet presAssocID="{EB85C335-26CC-40FC-A9CC-7A5B7D918838}" presName="compNode" presStyleCnt="0"/>
      <dgm:spPr/>
    </dgm:pt>
    <dgm:pt modelId="{53529A78-09F5-4805-BD8D-55B2DA11E8A2}" type="pres">
      <dgm:prSet presAssocID="{EB85C335-26CC-40FC-A9CC-7A5B7D918838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6EF45E3E-DCDF-4B7B-9641-8EFF690B83CA}" type="pres">
      <dgm:prSet presAssocID="{EB85C335-26CC-40FC-A9CC-7A5B7D91883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9878DFB7-27B6-4D77-8000-E476F2DBD3D8}" type="pres">
      <dgm:prSet presAssocID="{EB85C335-26CC-40FC-A9CC-7A5B7D918838}" presName="spaceRect" presStyleCnt="0"/>
      <dgm:spPr/>
    </dgm:pt>
    <dgm:pt modelId="{0D880973-1F75-43B8-BC95-48D9721E7F48}" type="pres">
      <dgm:prSet presAssocID="{EB85C335-26CC-40FC-A9CC-7A5B7D918838}" presName="textRect" presStyleLbl="revTx" presStyleIdx="1" presStyleCnt="3">
        <dgm:presLayoutVars>
          <dgm:chMax val="1"/>
          <dgm:chPref val="1"/>
        </dgm:presLayoutVars>
      </dgm:prSet>
      <dgm:spPr/>
    </dgm:pt>
    <dgm:pt modelId="{BE9533D1-CA49-4C7E-8E52-B5A0CB390360}" type="pres">
      <dgm:prSet presAssocID="{CD00FDC3-860B-498D-AB7F-957B21EC534B}" presName="sibTrans" presStyleCnt="0"/>
      <dgm:spPr/>
    </dgm:pt>
    <dgm:pt modelId="{0E031DE3-0B63-4769-A659-EEC1207E7C5A}" type="pres">
      <dgm:prSet presAssocID="{FAD0D9E8-6BD2-447B-9F3A-40350542325A}" presName="compNode" presStyleCnt="0"/>
      <dgm:spPr/>
    </dgm:pt>
    <dgm:pt modelId="{C417A519-CC98-47DF-8DF3-41BEBF803291}" type="pres">
      <dgm:prSet presAssocID="{FAD0D9E8-6BD2-447B-9F3A-40350542325A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1B3497A0-2313-482D-9DEC-0BA47EDF7600}" type="pres">
      <dgm:prSet presAssocID="{FAD0D9E8-6BD2-447B-9F3A-40350542325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B6A1D2BA-F31E-41E3-8103-A5B66891521B}" type="pres">
      <dgm:prSet presAssocID="{FAD0D9E8-6BD2-447B-9F3A-40350542325A}" presName="spaceRect" presStyleCnt="0"/>
      <dgm:spPr/>
    </dgm:pt>
    <dgm:pt modelId="{F7D682EE-3927-4E72-9DEF-B49BAC514029}" type="pres">
      <dgm:prSet presAssocID="{FAD0D9E8-6BD2-447B-9F3A-40350542325A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D9C0310B-2CFA-4D58-A51A-AA271B903C43}" type="presOf" srcId="{060A44D6-6B22-4F8B-8E8B-CEE5F96229C2}" destId="{48A41593-79EC-4D7E-9C00-10A52EACF5BE}" srcOrd="0" destOrd="0" presId="urn:microsoft.com/office/officeart/2018/5/layout/IconLeafLabelList"/>
    <dgm:cxn modelId="{6A2C942B-11DC-4848-80B0-F78348D8A642}" type="presOf" srcId="{FAD0D9E8-6BD2-447B-9F3A-40350542325A}" destId="{F7D682EE-3927-4E72-9DEF-B49BAC514029}" srcOrd="0" destOrd="0" presId="urn:microsoft.com/office/officeart/2018/5/layout/IconLeafLabelList"/>
    <dgm:cxn modelId="{FF5D8B68-94DA-4FF3-936A-7BE73333E46A}" srcId="{D64F4007-B11B-491D-BA8C-E5AC2169C01A}" destId="{060A44D6-6B22-4F8B-8E8B-CEE5F96229C2}" srcOrd="0" destOrd="0" parTransId="{3598042B-4B98-4EE0-95B3-58C0AE592610}" sibTransId="{9AAB575F-C199-426A-86D0-21E15382B55F}"/>
    <dgm:cxn modelId="{E6514587-93E2-4AF9-ACAA-62F2C59777CB}" srcId="{D64F4007-B11B-491D-BA8C-E5AC2169C01A}" destId="{FAD0D9E8-6BD2-447B-9F3A-40350542325A}" srcOrd="2" destOrd="0" parTransId="{26203CE6-B7F0-4B34-BC2E-12575241C6AC}" sibTransId="{5B0CB2D6-454E-4580-8C4F-C42A33A72D19}"/>
    <dgm:cxn modelId="{53FAEBA8-2AC5-4533-94C8-AA3F89D5DE54}" type="presOf" srcId="{EB85C335-26CC-40FC-A9CC-7A5B7D918838}" destId="{0D880973-1F75-43B8-BC95-48D9721E7F48}" srcOrd="0" destOrd="0" presId="urn:microsoft.com/office/officeart/2018/5/layout/IconLeafLabelList"/>
    <dgm:cxn modelId="{3F114CA9-D961-4E4B-BA71-B4E8559D7E16}" srcId="{D64F4007-B11B-491D-BA8C-E5AC2169C01A}" destId="{EB85C335-26CC-40FC-A9CC-7A5B7D918838}" srcOrd="1" destOrd="0" parTransId="{94FBB8D7-A0FD-45B8-97E5-4F7806C8A900}" sibTransId="{CD00FDC3-860B-498D-AB7F-957B21EC534B}"/>
    <dgm:cxn modelId="{85E8CCAF-17F3-4D94-89FF-85B8C5C11F13}" type="presOf" srcId="{D64F4007-B11B-491D-BA8C-E5AC2169C01A}" destId="{50194DFC-3C90-4EEA-95AD-147B83BF349B}" srcOrd="0" destOrd="0" presId="urn:microsoft.com/office/officeart/2018/5/layout/IconLeafLabelList"/>
    <dgm:cxn modelId="{F0D18076-2D1A-419B-841E-E9192635BF1B}" type="presParOf" srcId="{50194DFC-3C90-4EEA-95AD-147B83BF349B}" destId="{24FED44F-4E75-4EC3-8982-81465D897E18}" srcOrd="0" destOrd="0" presId="urn:microsoft.com/office/officeart/2018/5/layout/IconLeafLabelList"/>
    <dgm:cxn modelId="{E6618E3B-EC2A-42F2-B090-3475A7DD6A91}" type="presParOf" srcId="{24FED44F-4E75-4EC3-8982-81465D897E18}" destId="{A24EDC72-87BC-4CE1-9892-2AFDA5FD4924}" srcOrd="0" destOrd="0" presId="urn:microsoft.com/office/officeart/2018/5/layout/IconLeafLabelList"/>
    <dgm:cxn modelId="{C3547203-7361-4DAC-B22B-A4CB5D9FB9DC}" type="presParOf" srcId="{24FED44F-4E75-4EC3-8982-81465D897E18}" destId="{8B819A07-B181-4707-84B2-08F33BAF2E23}" srcOrd="1" destOrd="0" presId="urn:microsoft.com/office/officeart/2018/5/layout/IconLeafLabelList"/>
    <dgm:cxn modelId="{00F0E420-0261-475C-9CEA-8ECE64F04295}" type="presParOf" srcId="{24FED44F-4E75-4EC3-8982-81465D897E18}" destId="{360138FC-9D8D-4C05-9081-67E4E7818B9C}" srcOrd="2" destOrd="0" presId="urn:microsoft.com/office/officeart/2018/5/layout/IconLeafLabelList"/>
    <dgm:cxn modelId="{778D7708-30D0-47A6-A3A2-316D475F8402}" type="presParOf" srcId="{24FED44F-4E75-4EC3-8982-81465D897E18}" destId="{48A41593-79EC-4D7E-9C00-10A52EACF5BE}" srcOrd="3" destOrd="0" presId="urn:microsoft.com/office/officeart/2018/5/layout/IconLeafLabelList"/>
    <dgm:cxn modelId="{335AD407-893F-4CFD-AA27-982FBAA0B503}" type="presParOf" srcId="{50194DFC-3C90-4EEA-95AD-147B83BF349B}" destId="{F4D4C63B-3782-446F-BC6A-36AEEFB92C63}" srcOrd="1" destOrd="0" presId="urn:microsoft.com/office/officeart/2018/5/layout/IconLeafLabelList"/>
    <dgm:cxn modelId="{D25DE870-D7D9-49F8-8D85-9618161D3CC1}" type="presParOf" srcId="{50194DFC-3C90-4EEA-95AD-147B83BF349B}" destId="{C6AF8C9F-CB77-40E3-8956-3227B996BD40}" srcOrd="2" destOrd="0" presId="urn:microsoft.com/office/officeart/2018/5/layout/IconLeafLabelList"/>
    <dgm:cxn modelId="{D9AECB57-9E76-41B1-9558-588F3453254B}" type="presParOf" srcId="{C6AF8C9F-CB77-40E3-8956-3227B996BD40}" destId="{53529A78-09F5-4805-BD8D-55B2DA11E8A2}" srcOrd="0" destOrd="0" presId="urn:microsoft.com/office/officeart/2018/5/layout/IconLeafLabelList"/>
    <dgm:cxn modelId="{C2D3D433-46DB-44F4-A17C-EFD95F222815}" type="presParOf" srcId="{C6AF8C9F-CB77-40E3-8956-3227B996BD40}" destId="{6EF45E3E-DCDF-4B7B-9641-8EFF690B83CA}" srcOrd="1" destOrd="0" presId="urn:microsoft.com/office/officeart/2018/5/layout/IconLeafLabelList"/>
    <dgm:cxn modelId="{BC34FF97-555F-434F-8949-01557895140E}" type="presParOf" srcId="{C6AF8C9F-CB77-40E3-8956-3227B996BD40}" destId="{9878DFB7-27B6-4D77-8000-E476F2DBD3D8}" srcOrd="2" destOrd="0" presId="urn:microsoft.com/office/officeart/2018/5/layout/IconLeafLabelList"/>
    <dgm:cxn modelId="{7D5034C5-9C27-4F11-8967-FB9A61086C91}" type="presParOf" srcId="{C6AF8C9F-CB77-40E3-8956-3227B996BD40}" destId="{0D880973-1F75-43B8-BC95-48D9721E7F48}" srcOrd="3" destOrd="0" presId="urn:microsoft.com/office/officeart/2018/5/layout/IconLeafLabelList"/>
    <dgm:cxn modelId="{52BBF71F-75D8-4133-B406-CB24CB38F659}" type="presParOf" srcId="{50194DFC-3C90-4EEA-95AD-147B83BF349B}" destId="{BE9533D1-CA49-4C7E-8E52-B5A0CB390360}" srcOrd="3" destOrd="0" presId="urn:microsoft.com/office/officeart/2018/5/layout/IconLeafLabelList"/>
    <dgm:cxn modelId="{A44FBAE9-5C73-441A-8109-6B095DE8D66A}" type="presParOf" srcId="{50194DFC-3C90-4EEA-95AD-147B83BF349B}" destId="{0E031DE3-0B63-4769-A659-EEC1207E7C5A}" srcOrd="4" destOrd="0" presId="urn:microsoft.com/office/officeart/2018/5/layout/IconLeafLabelList"/>
    <dgm:cxn modelId="{90EC8151-AC86-4332-9656-ED70AA63533B}" type="presParOf" srcId="{0E031DE3-0B63-4769-A659-EEC1207E7C5A}" destId="{C417A519-CC98-47DF-8DF3-41BEBF803291}" srcOrd="0" destOrd="0" presId="urn:microsoft.com/office/officeart/2018/5/layout/IconLeafLabelList"/>
    <dgm:cxn modelId="{53D31C7C-CE90-487D-9EAC-D635CF15206A}" type="presParOf" srcId="{0E031DE3-0B63-4769-A659-EEC1207E7C5A}" destId="{1B3497A0-2313-482D-9DEC-0BA47EDF7600}" srcOrd="1" destOrd="0" presId="urn:microsoft.com/office/officeart/2018/5/layout/IconLeafLabelList"/>
    <dgm:cxn modelId="{AD277051-43A2-4D96-A2CA-9D926B17F557}" type="presParOf" srcId="{0E031DE3-0B63-4769-A659-EEC1207E7C5A}" destId="{B6A1D2BA-F31E-41E3-8103-A5B66891521B}" srcOrd="2" destOrd="0" presId="urn:microsoft.com/office/officeart/2018/5/layout/IconLeafLabelList"/>
    <dgm:cxn modelId="{95D1302A-9E78-47FE-BE43-9463F9BF5F28}" type="presParOf" srcId="{0E031DE3-0B63-4769-A659-EEC1207E7C5A}" destId="{F7D682EE-3927-4E72-9DEF-B49BAC514029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4EDC72-87BC-4CE1-9892-2AFDA5FD4924}">
      <dsp:nvSpPr>
        <dsp:cNvPr id="0" name=""/>
        <dsp:cNvSpPr/>
      </dsp:nvSpPr>
      <dsp:spPr>
        <a:xfrm>
          <a:off x="518185" y="517202"/>
          <a:ext cx="1475437" cy="14754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819A07-B181-4707-84B2-08F33BAF2E23}">
      <dsp:nvSpPr>
        <dsp:cNvPr id="0" name=""/>
        <dsp:cNvSpPr/>
      </dsp:nvSpPr>
      <dsp:spPr>
        <a:xfrm>
          <a:off x="832623" y="831639"/>
          <a:ext cx="846562" cy="846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A41593-79EC-4D7E-9C00-10A52EACF5BE}">
      <dsp:nvSpPr>
        <dsp:cNvPr id="0" name=""/>
        <dsp:cNvSpPr/>
      </dsp:nvSpPr>
      <dsp:spPr>
        <a:xfrm>
          <a:off x="46529" y="24522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Top-selling products</a:t>
          </a:r>
        </a:p>
      </dsp:txBody>
      <dsp:txXfrm>
        <a:off x="46529" y="2452202"/>
        <a:ext cx="2418750" cy="720000"/>
      </dsp:txXfrm>
    </dsp:sp>
    <dsp:sp modelId="{53529A78-09F5-4805-BD8D-55B2DA11E8A2}">
      <dsp:nvSpPr>
        <dsp:cNvPr id="0" name=""/>
        <dsp:cNvSpPr/>
      </dsp:nvSpPr>
      <dsp:spPr>
        <a:xfrm>
          <a:off x="3360216" y="517202"/>
          <a:ext cx="1475437" cy="14754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EF45E3E-DCDF-4B7B-9641-8EFF690B83CA}">
      <dsp:nvSpPr>
        <dsp:cNvPr id="0" name=""/>
        <dsp:cNvSpPr/>
      </dsp:nvSpPr>
      <dsp:spPr>
        <a:xfrm>
          <a:off x="3674654" y="831639"/>
          <a:ext cx="846562" cy="846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880973-1F75-43B8-BC95-48D9721E7F48}">
      <dsp:nvSpPr>
        <dsp:cNvPr id="0" name=""/>
        <dsp:cNvSpPr/>
      </dsp:nvSpPr>
      <dsp:spPr>
        <a:xfrm>
          <a:off x="2888560" y="24522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Revenue by country</a:t>
          </a:r>
        </a:p>
      </dsp:txBody>
      <dsp:txXfrm>
        <a:off x="2888560" y="2452202"/>
        <a:ext cx="2418750" cy="720000"/>
      </dsp:txXfrm>
    </dsp:sp>
    <dsp:sp modelId="{C417A519-CC98-47DF-8DF3-41BEBF803291}">
      <dsp:nvSpPr>
        <dsp:cNvPr id="0" name=""/>
        <dsp:cNvSpPr/>
      </dsp:nvSpPr>
      <dsp:spPr>
        <a:xfrm>
          <a:off x="6202248" y="517202"/>
          <a:ext cx="1475437" cy="1475437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3497A0-2313-482D-9DEC-0BA47EDF7600}">
      <dsp:nvSpPr>
        <dsp:cNvPr id="0" name=""/>
        <dsp:cNvSpPr/>
      </dsp:nvSpPr>
      <dsp:spPr>
        <a:xfrm>
          <a:off x="6516685" y="831639"/>
          <a:ext cx="846562" cy="846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D682EE-3927-4E72-9DEF-B49BAC514029}">
      <dsp:nvSpPr>
        <dsp:cNvPr id="0" name=""/>
        <dsp:cNvSpPr/>
      </dsp:nvSpPr>
      <dsp:spPr>
        <a:xfrm>
          <a:off x="5730591" y="2452202"/>
          <a:ext cx="241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300" kern="1200" dirty="0"/>
            <a:t>Quantity vs Price correlation plot</a:t>
          </a:r>
        </a:p>
      </dsp:txBody>
      <dsp:txXfrm>
        <a:off x="5730591" y="2452202"/>
        <a:ext cx="241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1710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project, dataset, and high-level goal: segmenting customers using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RFM ties into customer behavior analysis and why clustering is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4AE5D-4AF6-7845-F1A6-AD6ECBBD4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3AF123-8424-9A27-C4EC-3CAFED85F5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6846B-01AA-ED47-8546-68F2B5ABC0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RFM ties into customer behavior analysis and why clustering is useful.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BF33C-83C3-7931-C948-4D4BCA6BB6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54759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996D7-2AD2-55C5-C844-4CF197B57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352EED-3C11-B3AE-0784-22C2CE211C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06CED-96DD-CEA0-51DE-CD53914FB0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RFM ties into customer behavior analysis and why clustering is useful.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DBA33-DAB0-FE47-C82E-32937EE521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663147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1A36D-8AC5-C42E-9071-3332EBB67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89AB30-A7AF-E64F-97A6-1747FE160C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AA263E-270A-7E87-6584-CFCF728978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how RFM ties into customer behavior analysis and why clustering is useful.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BCF612-ED52-B606-84F1-020C20115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115655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with forward-looking ideas.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that the data is transactional and requires aggregation into customer-level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why preprocessing is critical for reliable clustering. Mention handling outliers.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data shape, trends, and initial observations.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that RFM is a standard method to quantify customer behavior. Mention why it works well for clustering.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Discuss how different RFM groups highlight customer value differences.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EA6D6-72D2-89DA-0DB1-0DC849BFA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1B4233-CD31-5A98-C0E5-4349DC19F3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8CC90-DDD0-D940-83D1-EC1FEEDBD0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Discuss how different RFM groups highlight customer value differences.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F9CD3-296B-DDED-D3BF-81130DB04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74051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intuition behind each algorithm and why testing multiple approaches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Briefly explain how outliers affect K-Means (centroid distortion) and DBSCAN (core point density).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improvements after removing outlier.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79547-90D9-2A56-E767-F6BEDB502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FB18D3-A3D0-AD1A-A22B-084F70F50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DD665C-A9AF-77C6-1BDC-31F6582E66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improvements after removing outlier.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DE9545-BC1B-7EDE-B2FA-1D5A9EA276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799004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Discuss challenges such as parameter sensitivity.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why PCA is useful for visualizing high-dimensional clustering.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the meaning of each cluster: high spenders, frequent buyers, dormant customers.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Quickly summarize what worked best and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collaborators and mention contributions if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8650" y="451382"/>
            <a:ext cx="7884414" cy="2146060"/>
          </a:xfrm>
        </p:spPr>
        <p:txBody>
          <a:bodyPr anchor="b">
            <a:noAutofit/>
          </a:bodyPr>
          <a:lstStyle/>
          <a:p>
            <a:pPr algn="l"/>
            <a:r>
              <a:rPr lang="en-CA" sz="4800" dirty="0">
                <a:solidFill>
                  <a:schemeClr val="accent1">
                    <a:lumMod val="75000"/>
                  </a:schemeClr>
                </a:solidFill>
              </a:rPr>
              <a:t>Machine Learning</a:t>
            </a:r>
            <a:br>
              <a:rPr lang="en-CA" sz="4800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CA" sz="4800" dirty="0">
                <a:solidFill>
                  <a:schemeClr val="accent1">
                    <a:lumMod val="75000"/>
                  </a:schemeClr>
                </a:solidFill>
              </a:rPr>
              <a:t>Online Retail Customer Segmentation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8649" y="4983276"/>
            <a:ext cx="7884414" cy="715745"/>
          </a:xfrm>
        </p:spPr>
        <p:txBody>
          <a:bodyPr>
            <a:normAutofit/>
          </a:bodyPr>
          <a:lstStyle/>
          <a:p>
            <a:pPr algn="l"/>
            <a:r>
              <a:rPr lang="en-CA" dirty="0"/>
              <a:t>ML Group 4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8650" y="4718595"/>
            <a:ext cx="4057650" cy="18288"/>
          </a:xfrm>
          <a:custGeom>
            <a:avLst/>
            <a:gdLst>
              <a:gd name="csX0" fmla="*/ 0 w 4057650"/>
              <a:gd name="csY0" fmla="*/ 0 h 18288"/>
              <a:gd name="csX1" fmla="*/ 757428 w 4057650"/>
              <a:gd name="csY1" fmla="*/ 0 h 18288"/>
              <a:gd name="csX2" fmla="*/ 1474279 w 4057650"/>
              <a:gd name="csY2" fmla="*/ 0 h 18288"/>
              <a:gd name="csX3" fmla="*/ 2191131 w 4057650"/>
              <a:gd name="csY3" fmla="*/ 0 h 18288"/>
              <a:gd name="csX4" fmla="*/ 2745676 w 4057650"/>
              <a:gd name="csY4" fmla="*/ 0 h 18288"/>
              <a:gd name="csX5" fmla="*/ 3340798 w 4057650"/>
              <a:gd name="csY5" fmla="*/ 0 h 18288"/>
              <a:gd name="csX6" fmla="*/ 4057650 w 4057650"/>
              <a:gd name="csY6" fmla="*/ 0 h 18288"/>
              <a:gd name="csX7" fmla="*/ 4057650 w 4057650"/>
              <a:gd name="csY7" fmla="*/ 18288 h 18288"/>
              <a:gd name="csX8" fmla="*/ 3381375 w 4057650"/>
              <a:gd name="csY8" fmla="*/ 18288 h 18288"/>
              <a:gd name="csX9" fmla="*/ 2826830 w 4057650"/>
              <a:gd name="csY9" fmla="*/ 18288 h 18288"/>
              <a:gd name="csX10" fmla="*/ 2272284 w 4057650"/>
              <a:gd name="csY10" fmla="*/ 18288 h 18288"/>
              <a:gd name="csX11" fmla="*/ 1555432 w 4057650"/>
              <a:gd name="csY11" fmla="*/ 18288 h 18288"/>
              <a:gd name="csX12" fmla="*/ 960310 w 4057650"/>
              <a:gd name="csY12" fmla="*/ 18288 h 18288"/>
              <a:gd name="csX13" fmla="*/ 0 w 4057650"/>
              <a:gd name="csY13" fmla="*/ 18288 h 18288"/>
              <a:gd name="csX14" fmla="*/ 0 w 4057650"/>
              <a:gd name="csY1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4057650" h="18288" fill="none" extrusionOk="0">
                <a:moveTo>
                  <a:pt x="0" y="0"/>
                </a:moveTo>
                <a:cubicBezTo>
                  <a:pt x="371182" y="3227"/>
                  <a:pt x="494372" y="9222"/>
                  <a:pt x="757428" y="0"/>
                </a:cubicBezTo>
                <a:cubicBezTo>
                  <a:pt x="1020484" y="-9222"/>
                  <a:pt x="1116719" y="-4357"/>
                  <a:pt x="1474279" y="0"/>
                </a:cubicBezTo>
                <a:cubicBezTo>
                  <a:pt x="1831839" y="4357"/>
                  <a:pt x="1920973" y="-11809"/>
                  <a:pt x="2191131" y="0"/>
                </a:cubicBezTo>
                <a:cubicBezTo>
                  <a:pt x="2461289" y="11809"/>
                  <a:pt x="2589480" y="-22604"/>
                  <a:pt x="2745676" y="0"/>
                </a:cubicBezTo>
                <a:cubicBezTo>
                  <a:pt x="2901872" y="22604"/>
                  <a:pt x="3136452" y="-12306"/>
                  <a:pt x="3340798" y="0"/>
                </a:cubicBezTo>
                <a:cubicBezTo>
                  <a:pt x="3545144" y="12306"/>
                  <a:pt x="3766934" y="-21556"/>
                  <a:pt x="4057650" y="0"/>
                </a:cubicBezTo>
                <a:cubicBezTo>
                  <a:pt x="4057150" y="8855"/>
                  <a:pt x="4057759" y="14521"/>
                  <a:pt x="4057650" y="18288"/>
                </a:cubicBezTo>
                <a:cubicBezTo>
                  <a:pt x="3743404" y="40125"/>
                  <a:pt x="3625516" y="-14923"/>
                  <a:pt x="3381375" y="18288"/>
                </a:cubicBezTo>
                <a:cubicBezTo>
                  <a:pt x="3137235" y="51499"/>
                  <a:pt x="2946571" y="1"/>
                  <a:pt x="2826830" y="18288"/>
                </a:cubicBezTo>
                <a:cubicBezTo>
                  <a:pt x="2707090" y="36575"/>
                  <a:pt x="2402756" y="1432"/>
                  <a:pt x="2272284" y="18288"/>
                </a:cubicBezTo>
                <a:cubicBezTo>
                  <a:pt x="2141812" y="35144"/>
                  <a:pt x="1895935" y="18199"/>
                  <a:pt x="1555432" y="18288"/>
                </a:cubicBezTo>
                <a:cubicBezTo>
                  <a:pt x="1214929" y="18377"/>
                  <a:pt x="1103072" y="14503"/>
                  <a:pt x="960310" y="18288"/>
                </a:cubicBezTo>
                <a:cubicBezTo>
                  <a:pt x="817548" y="22073"/>
                  <a:pt x="402272" y="-29359"/>
                  <a:pt x="0" y="18288"/>
                </a:cubicBezTo>
                <a:cubicBezTo>
                  <a:pt x="683" y="12014"/>
                  <a:pt x="724" y="5908"/>
                  <a:pt x="0" y="0"/>
                </a:cubicBezTo>
                <a:close/>
              </a:path>
              <a:path w="4057650" h="18288" stroke="0" extrusionOk="0">
                <a:moveTo>
                  <a:pt x="0" y="0"/>
                </a:moveTo>
                <a:cubicBezTo>
                  <a:pt x="248348" y="13145"/>
                  <a:pt x="486117" y="25042"/>
                  <a:pt x="635698" y="0"/>
                </a:cubicBezTo>
                <a:cubicBezTo>
                  <a:pt x="785279" y="-25042"/>
                  <a:pt x="917762" y="-5537"/>
                  <a:pt x="1190244" y="0"/>
                </a:cubicBezTo>
                <a:cubicBezTo>
                  <a:pt x="1462726" y="5537"/>
                  <a:pt x="1667120" y="-21232"/>
                  <a:pt x="1947672" y="0"/>
                </a:cubicBezTo>
                <a:cubicBezTo>
                  <a:pt x="2228224" y="21232"/>
                  <a:pt x="2280631" y="-21698"/>
                  <a:pt x="2583370" y="0"/>
                </a:cubicBezTo>
                <a:cubicBezTo>
                  <a:pt x="2886109" y="21698"/>
                  <a:pt x="3022941" y="19647"/>
                  <a:pt x="3219069" y="0"/>
                </a:cubicBezTo>
                <a:cubicBezTo>
                  <a:pt x="3415197" y="-19647"/>
                  <a:pt x="3747500" y="26991"/>
                  <a:pt x="4057650" y="0"/>
                </a:cubicBezTo>
                <a:cubicBezTo>
                  <a:pt x="4056752" y="7180"/>
                  <a:pt x="4057819" y="13790"/>
                  <a:pt x="4057650" y="18288"/>
                </a:cubicBezTo>
                <a:cubicBezTo>
                  <a:pt x="3865148" y="-3313"/>
                  <a:pt x="3702543" y="49468"/>
                  <a:pt x="3381375" y="18288"/>
                </a:cubicBezTo>
                <a:cubicBezTo>
                  <a:pt x="3060208" y="-12892"/>
                  <a:pt x="2956571" y="-8678"/>
                  <a:pt x="2826830" y="18288"/>
                </a:cubicBezTo>
                <a:cubicBezTo>
                  <a:pt x="2697089" y="45254"/>
                  <a:pt x="2411031" y="43154"/>
                  <a:pt x="2150555" y="18288"/>
                </a:cubicBezTo>
                <a:cubicBezTo>
                  <a:pt x="1890080" y="-6578"/>
                  <a:pt x="1741827" y="-615"/>
                  <a:pt x="1474280" y="18288"/>
                </a:cubicBezTo>
                <a:cubicBezTo>
                  <a:pt x="1206734" y="37191"/>
                  <a:pt x="998203" y="33335"/>
                  <a:pt x="838581" y="18288"/>
                </a:cubicBezTo>
                <a:cubicBezTo>
                  <a:pt x="678959" y="3241"/>
                  <a:pt x="187101" y="-13212"/>
                  <a:pt x="0" y="18288"/>
                </a:cubicBezTo>
                <a:cubicBezTo>
                  <a:pt x="571" y="10093"/>
                  <a:pt x="-125" y="840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CB7EA7-5E83-4A22-1D2D-2F4779463703}"/>
              </a:ext>
            </a:extLst>
          </p:cNvPr>
          <p:cNvSpPr txBox="1"/>
          <p:nvPr/>
        </p:nvSpPr>
        <p:spPr>
          <a:xfrm>
            <a:off x="1826087" y="3190194"/>
            <a:ext cx="226140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000" dirty="0"/>
              <a:t>Brian </a:t>
            </a:r>
            <a:r>
              <a:rPr lang="en-CA" sz="2000" dirty="0" err="1"/>
              <a:t>Ssekalegga</a:t>
            </a:r>
            <a:endParaRPr lang="en-CA" sz="2000" dirty="0"/>
          </a:p>
          <a:p>
            <a:r>
              <a:rPr lang="en-CA" sz="2000" dirty="0"/>
              <a:t>Luis Curiel Rojas</a:t>
            </a:r>
          </a:p>
          <a:p>
            <a:r>
              <a:rPr lang="en-CA" sz="2000" dirty="0"/>
              <a:t>Meisam Mofidi</a:t>
            </a:r>
          </a:p>
          <a:p>
            <a:r>
              <a:rPr lang="en-CA" sz="2000" dirty="0" err="1"/>
              <a:t>Minling</a:t>
            </a:r>
            <a:r>
              <a:rPr lang="en-CA" sz="2000" dirty="0"/>
              <a:t> Lian</a:t>
            </a:r>
          </a:p>
        </p:txBody>
      </p:sp>
      <p:pic>
        <p:nvPicPr>
          <p:cNvPr id="6" name="Graphic 5" descr="Teamwork">
            <a:extLst>
              <a:ext uri="{FF2B5EF4-FFF2-40B4-BE49-F238E27FC236}">
                <a16:creationId xmlns:a16="http://schemas.microsoft.com/office/drawing/2014/main" id="{76C007AC-46EA-0D80-B8FB-FDD30F3CC3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0491" y="2918098"/>
            <a:ext cx="898899" cy="898899"/>
          </a:xfrm>
          <a:prstGeom prst="rect">
            <a:avLst/>
          </a:prstGeom>
        </p:spPr>
      </p:pic>
      <p:pic>
        <p:nvPicPr>
          <p:cNvPr id="17" name="Picture 16" descr="A blue robot with a line of pulse&#10;&#10;AI-generated content may be incorrect.">
            <a:extLst>
              <a:ext uri="{FF2B5EF4-FFF2-40B4-BE49-F238E27FC236}">
                <a16:creationId xmlns:a16="http://schemas.microsoft.com/office/drawing/2014/main" id="{E8DE151A-887A-C6B4-C4CC-ED3F5EC60E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391" y="2843835"/>
            <a:ext cx="1701800" cy="17018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n-CA" sz="6300" dirty="0">
                <a:solidFill>
                  <a:schemeClr val="accent1">
                    <a:lumMod val="75000"/>
                  </a:schemeClr>
                </a:solidFill>
              </a:rP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412207"/>
          </a:xfrm>
        </p:spPr>
        <p:txBody>
          <a:bodyPr anchor="t">
            <a:normAutofit/>
          </a:bodyPr>
          <a:lstStyle/>
          <a:p>
            <a:r>
              <a:rPr lang="en-CA" sz="2400" dirty="0"/>
              <a:t>Unsupervised learning for customer segmentation</a:t>
            </a:r>
          </a:p>
          <a:p>
            <a:r>
              <a:rPr lang="en-CA" sz="2400" dirty="0"/>
              <a:t>Uses RFM features (Recency, Frequency, Monetary)</a:t>
            </a:r>
          </a:p>
          <a:p>
            <a:r>
              <a:rPr lang="en-CA" sz="2400" dirty="0"/>
              <a:t>Goal: discover meaningful customer groups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815E20-E3C2-AC92-3B19-BC09D1DFC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4FFF622-E365-3A32-3E94-52D808246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ABC21FAA-EC76-0A3C-F3FA-DA3E29A859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BBBC37-991A-7FC6-E324-B31243BE13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CE50F-A678-CEFE-BF0C-F06716E8A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6294" y="1214943"/>
            <a:ext cx="6563706" cy="4241847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CA" sz="3600" dirty="0"/>
              <a:t>The project applies clustering algorithms to identify customer segments based on purchasing behavior, including product quantities, unit prices, and how frequently customers transact.</a:t>
            </a:r>
          </a:p>
        </p:txBody>
      </p:sp>
    </p:spTree>
    <p:extLst>
      <p:ext uri="{BB962C8B-B14F-4D97-AF65-F5344CB8AC3E}">
        <p14:creationId xmlns:p14="http://schemas.microsoft.com/office/powerpoint/2010/main" val="941952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D965C6-9C06-460E-EBFD-C7B62CC24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F55BDA2-3AA0-FC28-27FD-47B8F87BA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8A8C7652-1A79-9BDD-5B6C-6773F36B14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AB1799-C38B-6DA8-E913-12245E1975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B46A7-62E8-678B-BEA6-8B66BFEDE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183" y="881239"/>
            <a:ext cx="7182544" cy="5091954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CA" sz="2200" dirty="0"/>
              <a:t>The clustering results can guide the business to </a:t>
            </a:r>
          </a:p>
          <a:p>
            <a:pPr marL="0" indent="0">
              <a:buNone/>
            </a:pPr>
            <a:r>
              <a:rPr lang="en-CA" sz="2200" b="1" dirty="0"/>
              <a:t>allocate marketing and inventory resources more efficiently</a:t>
            </a:r>
            <a:r>
              <a:rPr lang="en-CA" sz="2200" dirty="0"/>
              <a:t>. </a:t>
            </a:r>
            <a:br>
              <a:rPr lang="en-CA" sz="2200" dirty="0"/>
            </a:br>
            <a:br>
              <a:rPr lang="en-CA" sz="2200" dirty="0"/>
            </a:br>
            <a:r>
              <a:rPr lang="en-CA" sz="2200" dirty="0"/>
              <a:t>By identifying high-value segments, such as frequent buyers or high spenders, the company can focus promotions, loyalty rewards, and personalized offers on the customers who generate the greatest revenue. </a:t>
            </a:r>
            <a:br>
              <a:rPr lang="en-CA" sz="2200" dirty="0"/>
            </a:br>
            <a:br>
              <a:rPr lang="en-CA" sz="2200" dirty="0"/>
            </a:br>
            <a:r>
              <a:rPr lang="en-CA" sz="2200" dirty="0"/>
              <a:t>At the same time, lower-value or infrequent customers can be targeted with re-engagement campaigns. This segmentation ensures </a:t>
            </a:r>
            <a:r>
              <a:rPr lang="en-CA" sz="2200" b="1" dirty="0"/>
              <a:t>optimized marketing spend, better inventory planning, and increased customer lifetime value</a:t>
            </a:r>
            <a:r>
              <a:rPr lang="en-CA" sz="2200" dirty="0"/>
              <a:t>, ultimately improving overall profitability.</a:t>
            </a:r>
          </a:p>
        </p:txBody>
      </p:sp>
    </p:spTree>
    <p:extLst>
      <p:ext uri="{BB962C8B-B14F-4D97-AF65-F5344CB8AC3E}">
        <p14:creationId xmlns:p14="http://schemas.microsoft.com/office/powerpoint/2010/main" val="3151142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9D290-7204-01FF-785A-3CCBC462F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6E48AFA-8884-4F68-A44F-D2C1E8609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3" name="Arc 22">
            <a:extLst>
              <a:ext uri="{FF2B5EF4-FFF2-40B4-BE49-F238E27FC236}">
                <a16:creationId xmlns:a16="http://schemas.microsoft.com/office/drawing/2014/main" id="{969D19A6-08CB-498C-93EC-3FFB021FC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6164896" y="3712762"/>
            <a:ext cx="2987899" cy="2240924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Content Placeholder 13" descr="A graph with a green square and black line&#10;&#10;AI-generated content may be incorrect.">
            <a:extLst>
              <a:ext uri="{FF2B5EF4-FFF2-40B4-BE49-F238E27FC236}">
                <a16:creationId xmlns:a16="http://schemas.microsoft.com/office/drawing/2014/main" id="{E53833AD-891A-B9AE-6A55-42D3AFFC7B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35" y="848001"/>
            <a:ext cx="8154129" cy="2670477"/>
          </a:xfrm>
          <a:custGeom>
            <a:avLst/>
            <a:gdLst/>
            <a:ahLst/>
            <a:cxnLst/>
            <a:rect l="l" t="t" r="r" b="b"/>
            <a:pathLst>
              <a:path w="10580201" h="2957472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</p:spPr>
      </p:pic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341BEE0F-6031-71B7-63E6-BB7C35A6EA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526" y="3793447"/>
            <a:ext cx="7656945" cy="2491521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CA" sz="6200" dirty="0"/>
              <a:t>These three clusters help the business tailor its strategy:</a:t>
            </a:r>
          </a:p>
          <a:p>
            <a:r>
              <a:rPr lang="en-CA" sz="6200" b="1" dirty="0">
                <a:solidFill>
                  <a:srgbClr val="7030A0"/>
                </a:solidFill>
              </a:rPr>
              <a:t>Cluster 0 (low-value customers):</a:t>
            </a:r>
            <a:r>
              <a:rPr lang="en-CA" sz="6200" dirty="0">
                <a:solidFill>
                  <a:srgbClr val="7030A0"/>
                </a:solidFill>
              </a:rPr>
              <a:t> </a:t>
            </a:r>
            <a:r>
              <a:rPr lang="en-CA" sz="6200" dirty="0"/>
              <a:t>use low-cost marketing or re-engagement campaigns without overspending on acquisition.</a:t>
            </a:r>
          </a:p>
          <a:p>
            <a:r>
              <a:rPr lang="en-CA" sz="6200" b="1" dirty="0">
                <a:solidFill>
                  <a:srgbClr val="7030A0"/>
                </a:solidFill>
              </a:rPr>
              <a:t>Cluster 1 (moderate customers):</a:t>
            </a:r>
            <a:r>
              <a:rPr lang="en-CA" sz="6200" dirty="0">
                <a:solidFill>
                  <a:srgbClr val="7030A0"/>
                </a:solidFill>
              </a:rPr>
              <a:t> </a:t>
            </a:r>
            <a:r>
              <a:rPr lang="en-CA" sz="6200" dirty="0"/>
              <a:t>target with promotions to increase spending and move them toward high-value status.</a:t>
            </a:r>
          </a:p>
          <a:p>
            <a:r>
              <a:rPr lang="en-CA" sz="6200" b="1" dirty="0">
                <a:solidFill>
                  <a:srgbClr val="7030A0"/>
                </a:solidFill>
              </a:rPr>
              <a:t>Cluster 2 (high-value customers):</a:t>
            </a:r>
            <a:r>
              <a:rPr lang="en-CA" sz="6200" dirty="0">
                <a:solidFill>
                  <a:srgbClr val="7030A0"/>
                </a:solidFill>
              </a:rPr>
              <a:t> </a:t>
            </a:r>
            <a:r>
              <a:rPr lang="en-CA" sz="6200" dirty="0"/>
              <a:t>prioritize with loyalty rewards and personalized offers to maximize retention and revenue.</a:t>
            </a:r>
          </a:p>
          <a:p>
            <a:pPr marL="0" indent="0">
              <a:buNone/>
            </a:pPr>
            <a:br>
              <a:rPr lang="en-CA" sz="6200" dirty="0"/>
            </a:br>
            <a:r>
              <a:rPr lang="en-CA" sz="6200" dirty="0"/>
              <a:t>Together, these insights allow the company to </a:t>
            </a:r>
            <a:r>
              <a:rPr lang="en-CA" sz="6200" b="1" dirty="0"/>
              <a:t>optimize marketing budget, improve retention, and increase profitability</a:t>
            </a:r>
            <a:r>
              <a:rPr lang="en-CA" sz="6200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4210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D13CC36-B950-4F02-9BAF-9A7EB267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BDED99-B35B-4FEE-A274-8E8DB6FEE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68547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Person writing on a notepad">
            <a:extLst>
              <a:ext uri="{FF2B5EF4-FFF2-40B4-BE49-F238E27FC236}">
                <a16:creationId xmlns:a16="http://schemas.microsoft.com/office/drawing/2014/main" id="{68D13A67-DB9A-66FA-142C-E39AF3A133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389" r="28004"/>
          <a:stretch>
            <a:fillRect/>
          </a:stretch>
        </p:blipFill>
        <p:spPr>
          <a:xfrm>
            <a:off x="5976166" y="10"/>
            <a:ext cx="3167834" cy="6857990"/>
          </a:xfrm>
          <a:custGeom>
            <a:avLst/>
            <a:gdLst/>
            <a:ahLst/>
            <a:cxnLst/>
            <a:rect l="l" t="t" r="r" b="b"/>
            <a:pathLst>
              <a:path w="4223778" h="6865951">
                <a:moveTo>
                  <a:pt x="478794" y="0"/>
                </a:moveTo>
                <a:lnTo>
                  <a:pt x="4223778" y="0"/>
                </a:lnTo>
                <a:lnTo>
                  <a:pt x="4223778" y="6865951"/>
                </a:lnTo>
                <a:lnTo>
                  <a:pt x="52221" y="6865951"/>
                </a:lnTo>
                <a:lnTo>
                  <a:pt x="49989" y="6844695"/>
                </a:lnTo>
                <a:cubicBezTo>
                  <a:pt x="46440" y="6810509"/>
                  <a:pt x="42891" y="6776323"/>
                  <a:pt x="41304" y="6765443"/>
                </a:cubicBezTo>
                <a:cubicBezTo>
                  <a:pt x="35681" y="6732842"/>
                  <a:pt x="13533" y="6716945"/>
                  <a:pt x="11182" y="6694817"/>
                </a:cubicBezTo>
                <a:cubicBezTo>
                  <a:pt x="16764" y="6697663"/>
                  <a:pt x="14835" y="6635151"/>
                  <a:pt x="10913" y="6627127"/>
                </a:cubicBezTo>
                <a:cubicBezTo>
                  <a:pt x="19564" y="6579282"/>
                  <a:pt x="-12861" y="6585665"/>
                  <a:pt x="5999" y="6527525"/>
                </a:cubicBezTo>
                <a:cubicBezTo>
                  <a:pt x="12287" y="6468687"/>
                  <a:pt x="19003" y="6409739"/>
                  <a:pt x="7685" y="6346547"/>
                </a:cubicBezTo>
                <a:cubicBezTo>
                  <a:pt x="31149" y="6240430"/>
                  <a:pt x="5895" y="6134229"/>
                  <a:pt x="12535" y="6084924"/>
                </a:cubicBezTo>
                <a:cubicBezTo>
                  <a:pt x="14696" y="6024961"/>
                  <a:pt x="53867" y="6020785"/>
                  <a:pt x="45320" y="5989742"/>
                </a:cubicBezTo>
                <a:cubicBezTo>
                  <a:pt x="41264" y="5940899"/>
                  <a:pt x="43258" y="5932095"/>
                  <a:pt x="40418" y="5889597"/>
                </a:cubicBezTo>
                <a:cubicBezTo>
                  <a:pt x="20860" y="5848611"/>
                  <a:pt x="51187" y="5792775"/>
                  <a:pt x="49796" y="5755774"/>
                </a:cubicBezTo>
                <a:cubicBezTo>
                  <a:pt x="43522" y="5734342"/>
                  <a:pt x="37368" y="5692606"/>
                  <a:pt x="49956" y="5684909"/>
                </a:cubicBezTo>
                <a:cubicBezTo>
                  <a:pt x="52825" y="5660429"/>
                  <a:pt x="62553" y="5623499"/>
                  <a:pt x="67011" y="5608897"/>
                </a:cubicBezTo>
                <a:lnTo>
                  <a:pt x="76701" y="5597290"/>
                </a:lnTo>
                <a:cubicBezTo>
                  <a:pt x="87717" y="5587442"/>
                  <a:pt x="82431" y="5550877"/>
                  <a:pt x="89120" y="5529641"/>
                </a:cubicBezTo>
                <a:cubicBezTo>
                  <a:pt x="69291" y="5496375"/>
                  <a:pt x="118554" y="5526326"/>
                  <a:pt x="94330" y="5470852"/>
                </a:cubicBezTo>
                <a:cubicBezTo>
                  <a:pt x="95483" y="5449506"/>
                  <a:pt x="114690" y="5429653"/>
                  <a:pt x="116139" y="5390946"/>
                </a:cubicBezTo>
                <a:cubicBezTo>
                  <a:pt x="127589" y="5337323"/>
                  <a:pt x="132794" y="5338384"/>
                  <a:pt x="135560" y="5284344"/>
                </a:cubicBezTo>
                <a:cubicBezTo>
                  <a:pt x="143629" y="5226223"/>
                  <a:pt x="148113" y="5192743"/>
                  <a:pt x="158141" y="5143920"/>
                </a:cubicBezTo>
                <a:cubicBezTo>
                  <a:pt x="170128" y="5118849"/>
                  <a:pt x="159838" y="5102006"/>
                  <a:pt x="174950" y="5088188"/>
                </a:cubicBezTo>
                <a:cubicBezTo>
                  <a:pt x="197620" y="5107654"/>
                  <a:pt x="181875" y="4983257"/>
                  <a:pt x="203603" y="5010764"/>
                </a:cubicBezTo>
                <a:lnTo>
                  <a:pt x="258582" y="4919969"/>
                </a:lnTo>
                <a:cubicBezTo>
                  <a:pt x="238838" y="4883087"/>
                  <a:pt x="271098" y="4853332"/>
                  <a:pt x="287910" y="4849612"/>
                </a:cubicBezTo>
                <a:cubicBezTo>
                  <a:pt x="294156" y="4811643"/>
                  <a:pt x="286101" y="4834074"/>
                  <a:pt x="305439" y="4799017"/>
                </a:cubicBezTo>
                <a:cubicBezTo>
                  <a:pt x="322572" y="4758926"/>
                  <a:pt x="352642" y="4705848"/>
                  <a:pt x="373456" y="4667754"/>
                </a:cubicBezTo>
                <a:cubicBezTo>
                  <a:pt x="384080" y="4649919"/>
                  <a:pt x="401158" y="4670663"/>
                  <a:pt x="407944" y="4574050"/>
                </a:cubicBezTo>
                <a:cubicBezTo>
                  <a:pt x="408098" y="4548109"/>
                  <a:pt x="427782" y="4503327"/>
                  <a:pt x="425133" y="4462469"/>
                </a:cubicBezTo>
                <a:lnTo>
                  <a:pt x="433890" y="4364681"/>
                </a:lnTo>
                <a:cubicBezTo>
                  <a:pt x="430018" y="4339230"/>
                  <a:pt x="435361" y="4287915"/>
                  <a:pt x="440691" y="4222147"/>
                </a:cubicBezTo>
                <a:cubicBezTo>
                  <a:pt x="451463" y="4164562"/>
                  <a:pt x="497377" y="4067298"/>
                  <a:pt x="503057" y="3977136"/>
                </a:cubicBezTo>
                <a:cubicBezTo>
                  <a:pt x="519229" y="3939837"/>
                  <a:pt x="472839" y="3875689"/>
                  <a:pt x="507582" y="3776020"/>
                </a:cubicBezTo>
                <a:cubicBezTo>
                  <a:pt x="497716" y="3757477"/>
                  <a:pt x="518006" y="3707185"/>
                  <a:pt x="521577" y="3692206"/>
                </a:cubicBezTo>
                <a:cubicBezTo>
                  <a:pt x="525148" y="3677227"/>
                  <a:pt x="526352" y="3687655"/>
                  <a:pt x="529009" y="3686147"/>
                </a:cubicBezTo>
                <a:cubicBezTo>
                  <a:pt x="531848" y="3650325"/>
                  <a:pt x="545504" y="3563351"/>
                  <a:pt x="551870" y="3514534"/>
                </a:cubicBezTo>
                <a:cubicBezTo>
                  <a:pt x="561331" y="3487751"/>
                  <a:pt x="581973" y="3426419"/>
                  <a:pt x="567205" y="3393248"/>
                </a:cubicBezTo>
                <a:cubicBezTo>
                  <a:pt x="585208" y="3400657"/>
                  <a:pt x="563566" y="3353906"/>
                  <a:pt x="579630" y="3344723"/>
                </a:cubicBezTo>
                <a:cubicBezTo>
                  <a:pt x="592861" y="3339338"/>
                  <a:pt x="589379" y="3323900"/>
                  <a:pt x="592672" y="3310978"/>
                </a:cubicBezTo>
                <a:cubicBezTo>
                  <a:pt x="605351" y="3299735"/>
                  <a:pt x="594296" y="3237176"/>
                  <a:pt x="589270" y="3216655"/>
                </a:cubicBezTo>
                <a:cubicBezTo>
                  <a:pt x="566909" y="3160431"/>
                  <a:pt x="626099" y="3142203"/>
                  <a:pt x="609663" y="3096973"/>
                </a:cubicBezTo>
                <a:cubicBezTo>
                  <a:pt x="609191" y="3084373"/>
                  <a:pt x="615889" y="3033331"/>
                  <a:pt x="618886" y="3023628"/>
                </a:cubicBezTo>
                <a:lnTo>
                  <a:pt x="630425" y="2998646"/>
                </a:lnTo>
                <a:lnTo>
                  <a:pt x="640017" y="2995914"/>
                </a:lnTo>
                <a:lnTo>
                  <a:pt x="643600" y="2978244"/>
                </a:lnTo>
                <a:lnTo>
                  <a:pt x="659520" y="2950805"/>
                </a:lnTo>
                <a:cubicBezTo>
                  <a:pt x="620152" y="2937671"/>
                  <a:pt x="687598" y="2860550"/>
                  <a:pt x="650890" y="2864933"/>
                </a:cubicBezTo>
                <a:cubicBezTo>
                  <a:pt x="663707" y="2817056"/>
                  <a:pt x="662078" y="2779813"/>
                  <a:pt x="640210" y="2741864"/>
                </a:cubicBezTo>
                <a:cubicBezTo>
                  <a:pt x="634452" y="2649732"/>
                  <a:pt x="665268" y="2597914"/>
                  <a:pt x="639387" y="2510931"/>
                </a:cubicBezTo>
                <a:cubicBezTo>
                  <a:pt x="645574" y="2407642"/>
                  <a:pt x="671719" y="2317589"/>
                  <a:pt x="680438" y="2227415"/>
                </a:cubicBezTo>
                <a:cubicBezTo>
                  <a:pt x="664175" y="2189847"/>
                  <a:pt x="704423" y="2141655"/>
                  <a:pt x="688135" y="2054289"/>
                </a:cubicBezTo>
                <a:cubicBezTo>
                  <a:pt x="683239" y="2048201"/>
                  <a:pt x="684029" y="1979567"/>
                  <a:pt x="681480" y="1972202"/>
                </a:cubicBezTo>
                <a:lnTo>
                  <a:pt x="686247" y="1917474"/>
                </a:lnTo>
                <a:lnTo>
                  <a:pt x="679783" y="1862721"/>
                </a:lnTo>
                <a:cubicBezTo>
                  <a:pt x="683677" y="1851209"/>
                  <a:pt x="688980" y="1824057"/>
                  <a:pt x="686639" y="1818227"/>
                </a:cubicBezTo>
                <a:lnTo>
                  <a:pt x="658235" y="1742488"/>
                </a:lnTo>
                <a:cubicBezTo>
                  <a:pt x="645662" y="1715201"/>
                  <a:pt x="661423" y="1719638"/>
                  <a:pt x="636990" y="1638389"/>
                </a:cubicBezTo>
                <a:cubicBezTo>
                  <a:pt x="626351" y="1601441"/>
                  <a:pt x="629414" y="1617134"/>
                  <a:pt x="602059" y="1570807"/>
                </a:cubicBezTo>
                <a:lnTo>
                  <a:pt x="570903" y="1513173"/>
                </a:lnTo>
                <a:cubicBezTo>
                  <a:pt x="570781" y="1503175"/>
                  <a:pt x="550561" y="1468055"/>
                  <a:pt x="550438" y="1458058"/>
                </a:cubicBezTo>
                <a:cubicBezTo>
                  <a:pt x="556848" y="1428101"/>
                  <a:pt x="546263" y="1422712"/>
                  <a:pt x="531416" y="1385478"/>
                </a:cubicBezTo>
                <a:cubicBezTo>
                  <a:pt x="527790" y="1370753"/>
                  <a:pt x="490725" y="1304050"/>
                  <a:pt x="501981" y="1265452"/>
                </a:cubicBezTo>
                <a:cubicBezTo>
                  <a:pt x="501825" y="1234781"/>
                  <a:pt x="490462" y="1187660"/>
                  <a:pt x="487370" y="1141743"/>
                </a:cubicBezTo>
                <a:cubicBezTo>
                  <a:pt x="484278" y="1095826"/>
                  <a:pt x="483852" y="1028118"/>
                  <a:pt x="483427" y="989948"/>
                </a:cubicBezTo>
                <a:cubicBezTo>
                  <a:pt x="483001" y="951779"/>
                  <a:pt x="494678" y="945984"/>
                  <a:pt x="484820" y="912725"/>
                </a:cubicBezTo>
                <a:cubicBezTo>
                  <a:pt x="467566" y="854951"/>
                  <a:pt x="510777" y="860797"/>
                  <a:pt x="475093" y="812798"/>
                </a:cubicBezTo>
                <a:cubicBezTo>
                  <a:pt x="461960" y="787034"/>
                  <a:pt x="498505" y="551948"/>
                  <a:pt x="461972" y="450605"/>
                </a:cubicBezTo>
                <a:cubicBezTo>
                  <a:pt x="470167" y="357604"/>
                  <a:pt x="458694" y="431306"/>
                  <a:pt x="465015" y="372906"/>
                </a:cubicBezTo>
                <a:cubicBezTo>
                  <a:pt x="503427" y="364177"/>
                  <a:pt x="489736" y="290341"/>
                  <a:pt x="490377" y="246134"/>
                </a:cubicBezTo>
                <a:cubicBezTo>
                  <a:pt x="491019" y="201927"/>
                  <a:pt x="449725" y="138160"/>
                  <a:pt x="468864" y="107666"/>
                </a:cubicBezTo>
                <a:cubicBezTo>
                  <a:pt x="468282" y="89794"/>
                  <a:pt x="477749" y="76947"/>
                  <a:pt x="477167" y="59075"/>
                </a:cubicBezTo>
                <a:lnTo>
                  <a:pt x="472992" y="14560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5" y="609600"/>
            <a:ext cx="5123391" cy="1322887"/>
          </a:xfrm>
        </p:spPr>
        <p:txBody>
          <a:bodyPr>
            <a:normAutofit/>
          </a:bodyPr>
          <a:lstStyle/>
          <a:p>
            <a:r>
              <a:rPr dirty="0">
                <a:solidFill>
                  <a:schemeClr val="accent1">
                    <a:lumMod val="75000"/>
                  </a:schemeClr>
                </a:solidFill>
              </a:rP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2509" y="2406539"/>
            <a:ext cx="6024399" cy="2756588"/>
          </a:xfrm>
        </p:spPr>
        <p:txBody>
          <a:bodyPr>
            <a:noAutofit/>
          </a:bodyPr>
          <a:lstStyle/>
          <a:p>
            <a:r>
              <a:rPr lang="en-CA" sz="2800" dirty="0"/>
              <a:t>Deploy model on AWS or GCP</a:t>
            </a:r>
          </a:p>
          <a:p>
            <a:r>
              <a:rPr lang="en-CA" sz="2800" dirty="0"/>
              <a:t>Build dashboard for real-time insights</a:t>
            </a:r>
          </a:p>
          <a:p>
            <a:r>
              <a:rPr lang="en-CA" sz="2800" dirty="0"/>
              <a:t>Explore supervised models for customer lifetime prediction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A9ADD-B366-498A-34EF-696F4ED26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48383"/>
            <a:ext cx="8229600" cy="1143000"/>
          </a:xfrm>
        </p:spPr>
        <p:txBody>
          <a:bodyPr>
            <a:normAutofit/>
          </a:bodyPr>
          <a:lstStyle/>
          <a:p>
            <a:r>
              <a:rPr lang="en-US" sz="5400" dirty="0">
                <a:solidFill>
                  <a:srgbClr val="7030A0"/>
                </a:solidFill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1959698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r>
              <a:rPr lang="en-CA" sz="3850" dirty="0">
                <a:solidFill>
                  <a:schemeClr val="accent1">
                    <a:lumMod val="75000"/>
                  </a:schemeClr>
                </a:solidFill>
              </a:rPr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r>
              <a:rPr lang="en-CA" sz="2400" dirty="0"/>
              <a:t>Online Retail dataset – UK-based gift retailer</a:t>
            </a:r>
          </a:p>
          <a:p>
            <a:r>
              <a:rPr lang="en-CA" sz="2400" dirty="0"/>
              <a:t>2010–2011 transactions</a:t>
            </a:r>
          </a:p>
          <a:p>
            <a:r>
              <a:rPr lang="en-CA" sz="2400" dirty="0"/>
              <a:t>~541K records</a:t>
            </a:r>
          </a:p>
          <a:p>
            <a:r>
              <a:rPr lang="en-CA" sz="2400" dirty="0"/>
              <a:t>Key fields: </a:t>
            </a:r>
            <a:r>
              <a:rPr lang="en-CA" sz="2400" dirty="0" err="1"/>
              <a:t>InvoiceNo</a:t>
            </a:r>
            <a:r>
              <a:rPr lang="en-CA" sz="2400" dirty="0"/>
              <a:t>, </a:t>
            </a:r>
            <a:r>
              <a:rPr lang="en-CA" sz="2400" dirty="0" err="1"/>
              <a:t>StockCode</a:t>
            </a:r>
            <a:r>
              <a:rPr lang="en-CA" sz="2400" dirty="0"/>
              <a:t>, Quantity, Date, Price, Country, </a:t>
            </a:r>
            <a:r>
              <a:rPr lang="en-CA" sz="2400" dirty="0" err="1"/>
              <a:t>CustomerID</a:t>
            </a:r>
            <a:endParaRPr lang="en-CA" sz="24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Bow">
            <a:extLst>
              <a:ext uri="{FF2B5EF4-FFF2-40B4-BE49-F238E27FC236}">
                <a16:creationId xmlns:a16="http://schemas.microsoft.com/office/drawing/2014/main" id="{EA25365B-7DA9-687F-C247-B9B8557861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CA" sz="5400" dirty="0">
                <a:solidFill>
                  <a:schemeClr val="accent1">
                    <a:lumMod val="75000"/>
                  </a:schemeClr>
                </a:solidFill>
              </a:rPr>
              <a:t>Data Cleaning &amp;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n-CA" sz="2400" dirty="0"/>
              <a:t>Removed cancellations &amp; invalid transactions</a:t>
            </a:r>
          </a:p>
          <a:p>
            <a:r>
              <a:rPr lang="en-CA" sz="2400" dirty="0"/>
              <a:t>Added Year, Month, Subtotal, Cancellation Flag</a:t>
            </a:r>
          </a:p>
          <a:p>
            <a:r>
              <a:rPr lang="en-CA" sz="2400" dirty="0"/>
              <a:t>Handled missing </a:t>
            </a:r>
            <a:r>
              <a:rPr lang="en-CA" sz="2400" dirty="0" err="1"/>
              <a:t>CustomerID</a:t>
            </a:r>
            <a:endParaRPr lang="en-CA" sz="2400" dirty="0"/>
          </a:p>
          <a:p>
            <a:r>
              <a:rPr lang="en-CA" sz="2400" dirty="0"/>
              <a:t>Final dataset ~538K rows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r>
              <a:rPr lang="en-CA" sz="3500" dirty="0">
                <a:solidFill>
                  <a:srgbClr val="FFFFFF"/>
                </a:solidFill>
              </a:rPr>
              <a:t>Exploratory Data Analysis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02860F6-E8C0-B9E9-2B09-DE6ABFB8B5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541396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lowchart: Document 8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631" y="0"/>
            <a:ext cx="2436019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5A9C42-066E-E167-0796-AAFE3E06E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2130136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Revenue by country</a:t>
            </a:r>
          </a:p>
        </p:txBody>
      </p:sp>
      <p:pic>
        <p:nvPicPr>
          <p:cNvPr id="4" name="Content Placeholder 3" descr="A screenshot of a graph&#10;&#10;AI-generated content may be incorrect.">
            <a:extLst>
              <a:ext uri="{FF2B5EF4-FFF2-40B4-BE49-F238E27FC236}">
                <a16:creationId xmlns:a16="http://schemas.microsoft.com/office/drawing/2014/main" id="{81A55C95-D19D-EC63-62A6-FF40618EAB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55949" y="942805"/>
            <a:ext cx="5679208" cy="5125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5802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lowchart: Document 9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631" y="0"/>
            <a:ext cx="2436019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153F8E-DA87-2374-A1BC-101391B9B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2130136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Top-selling products</a:t>
            </a:r>
          </a:p>
        </p:txBody>
      </p:sp>
      <p:pic>
        <p:nvPicPr>
          <p:cNvPr id="5" name="Content Placeholder 4" descr="A black and white list with white text&#10;&#10;AI-generated content may be incorrect.">
            <a:extLst>
              <a:ext uri="{FF2B5EF4-FFF2-40B4-BE49-F238E27FC236}">
                <a16:creationId xmlns:a16="http://schemas.microsoft.com/office/drawing/2014/main" id="{8A7253A8-F29E-6097-38EB-C1A4529701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55949" y="1252780"/>
            <a:ext cx="5616229" cy="4436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064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B2102C-4DE6-FD17-7D11-2C332B81B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lowchart: Document 9">
            <a:extLst>
              <a:ext uri="{FF2B5EF4-FFF2-40B4-BE49-F238E27FC236}">
                <a16:creationId xmlns:a16="http://schemas.microsoft.com/office/drawing/2014/main" id="{E860B09D-655D-E298-49F8-E7F5AAABF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631" y="0"/>
            <a:ext cx="2436019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363AE2-1B56-3A95-7A14-C5E3D667A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71162"/>
            <a:ext cx="2130136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Top-selling products</a:t>
            </a:r>
          </a:p>
        </p:txBody>
      </p:sp>
      <p:pic>
        <p:nvPicPr>
          <p:cNvPr id="6" name="Content Placeholder 3" descr="A graph with a line drawn on it&#10;&#10;AI-generated content may be incorrect.">
            <a:extLst>
              <a:ext uri="{FF2B5EF4-FFF2-40B4-BE49-F238E27FC236}">
                <a16:creationId xmlns:a16="http://schemas.microsoft.com/office/drawing/2014/main" id="{E49D3688-3173-A53A-F8A9-211EBCF238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7490" y="1941802"/>
            <a:ext cx="6641061" cy="415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6982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CA" sz="3500" dirty="0">
                <a:solidFill>
                  <a:schemeClr val="accent1">
                    <a:lumMod val="75000"/>
                  </a:schemeClr>
                </a:solidFill>
              </a:rPr>
              <a:t>RFM 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2" y="2437454"/>
            <a:ext cx="3485179" cy="4070350"/>
          </a:xfrm>
        </p:spPr>
        <p:txBody>
          <a:bodyPr anchor="ctr">
            <a:noAutofit/>
          </a:bodyPr>
          <a:lstStyle/>
          <a:p>
            <a:r>
              <a:rPr lang="en-CA" sz="2400" dirty="0"/>
              <a:t>Recency – days since last purchase</a:t>
            </a:r>
          </a:p>
          <a:p>
            <a:r>
              <a:rPr lang="en-CA" sz="2400" dirty="0"/>
              <a:t>Frequency – number of purchases</a:t>
            </a:r>
          </a:p>
          <a:p>
            <a:r>
              <a:rPr lang="en-CA" sz="2400" dirty="0"/>
              <a:t>Monetary – total amount spent</a:t>
            </a:r>
          </a:p>
          <a:p>
            <a:endParaRPr lang="en-CA" sz="2400" dirty="0"/>
          </a:p>
          <a:p>
            <a:r>
              <a:rPr lang="en-CA" sz="2400" dirty="0"/>
              <a:t>Customers scored on 1–5 scale for each metric.</a:t>
            </a:r>
          </a:p>
        </p:txBody>
      </p:sp>
      <p:pic>
        <p:nvPicPr>
          <p:cNvPr id="5" name="Picture 4" descr="Periodic table of elements">
            <a:extLst>
              <a:ext uri="{FF2B5EF4-FFF2-40B4-BE49-F238E27FC236}">
                <a16:creationId xmlns:a16="http://schemas.microsoft.com/office/drawing/2014/main" id="{610BCB60-A565-C997-2CE1-F34BA10C69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898" r="26719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9144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348" y="551962"/>
            <a:ext cx="8249304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293338"/>
            <a:ext cx="6858000" cy="3274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63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RFM Distribution &amp; Interpretation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47348" y="6354708"/>
            <a:ext cx="8250174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B748A2-F4CB-0387-0BBC-48DBB7383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6E48AFA-8884-4F68-A44F-D2C1E8609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969D19A6-08CB-498C-93EC-3FFB021FC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6164896" y="3712762"/>
            <a:ext cx="2987899" cy="2240924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Content Placeholder 4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007244E4-A442-7945-BDC5-C67EA10E87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94935" y="685844"/>
            <a:ext cx="8154129" cy="2099687"/>
          </a:xfrm>
          <a:custGeom>
            <a:avLst/>
            <a:gdLst/>
            <a:ahLst/>
            <a:cxnLst/>
            <a:rect l="l" t="t" r="r" b="b"/>
            <a:pathLst>
              <a:path w="10580201" h="2957472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431B1-113D-CBC1-9C61-41B85B279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4935" y="3106512"/>
            <a:ext cx="8020415" cy="3108020"/>
          </a:xfr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CA" b="1" dirty="0">
                <a:solidFill>
                  <a:srgbClr val="7030A0"/>
                </a:solidFill>
              </a:rPr>
              <a:t>Recency represented</a:t>
            </a:r>
            <a:r>
              <a:rPr lang="en-CA" b="1" dirty="0"/>
              <a:t>: </a:t>
            </a:r>
            <a:r>
              <a:rPr lang="en-CA" dirty="0"/>
              <a:t>How long it’s been since the customer last made a purchase. Customers who bought something recently get </a:t>
            </a:r>
            <a:r>
              <a:rPr lang="en-CA" sz="3100" dirty="0"/>
              <a:t>higher scores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: </a:t>
            </a:r>
            <a:r>
              <a:rPr lang="en-CA" dirty="0">
                <a:solidFill>
                  <a:srgbClr val="7030A0"/>
                </a:solidFill>
              </a:rPr>
              <a:t>5 = very recent, 1 = very old.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3100" b="1" dirty="0">
                <a:solidFill>
                  <a:srgbClr val="7030A0"/>
                </a:solidFill>
              </a:rPr>
              <a:t>Frequency represented</a:t>
            </a:r>
            <a:r>
              <a:rPr lang="en-CA" b="1" dirty="0"/>
              <a:t>: </a:t>
            </a:r>
            <a:r>
              <a:rPr lang="en-CA" dirty="0"/>
              <a:t>How often the customer makes a purchase. People who buy more often get higher </a:t>
            </a:r>
            <a:br>
              <a:rPr lang="en-CA" dirty="0"/>
            </a:br>
            <a:r>
              <a:rPr lang="en-CA" sz="3100" dirty="0"/>
              <a:t>scores:</a:t>
            </a:r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CA" dirty="0">
                <a:solidFill>
                  <a:srgbClr val="7030A0"/>
                </a:solidFill>
              </a:rPr>
              <a:t>5 = frequent buyer, 1 = rare.</a:t>
            </a:r>
          </a:p>
          <a:p>
            <a:pPr marL="514350" indent="-514350">
              <a:buFont typeface="+mj-lt"/>
              <a:buAutoNum type="arabicPeriod"/>
            </a:pPr>
            <a:r>
              <a:rPr lang="en-CA" sz="3100" b="1" dirty="0">
                <a:solidFill>
                  <a:srgbClr val="7030A0"/>
                </a:solidFill>
              </a:rPr>
              <a:t>Monetary represent</a:t>
            </a:r>
            <a:r>
              <a:rPr lang="en-CA" b="1" dirty="0"/>
              <a:t>: </a:t>
            </a:r>
            <a:r>
              <a:rPr lang="en-CA" dirty="0"/>
              <a:t>How much money the customer has spent in total. Customers who spend more get higher scores: </a:t>
            </a:r>
            <a:br>
              <a:rPr lang="en-CA" dirty="0"/>
            </a:br>
            <a:r>
              <a:rPr lang="en-CA" dirty="0">
                <a:solidFill>
                  <a:srgbClr val="7030A0"/>
                </a:solidFill>
              </a:rPr>
              <a:t>5 = high spender, 1 = low spender.</a:t>
            </a:r>
          </a:p>
          <a:p>
            <a:pPr marL="0" indent="0" defTabSz="914400">
              <a:spcBef>
                <a:spcPts val="1000"/>
              </a:spcBef>
              <a:buNone/>
            </a:pPr>
            <a:endParaRPr lang="en-US" kern="1200" dirty="0"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1569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/>
          </a:bodyPr>
          <a:lstStyle/>
          <a:p>
            <a:r>
              <a:rPr lang="en-CA" sz="3500" dirty="0">
                <a:solidFill>
                  <a:schemeClr val="accent1">
                    <a:lumMod val="75000"/>
                  </a:schemeClr>
                </a:solidFill>
              </a:rPr>
              <a:t>Algorithms Explored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1131" y="2239335"/>
            <a:ext cx="5164432" cy="3769835"/>
          </a:xfrm>
        </p:spPr>
        <p:txBody>
          <a:bodyPr anchor="ctr">
            <a:normAutofit/>
          </a:bodyPr>
          <a:lstStyle/>
          <a:p>
            <a:r>
              <a:rPr lang="en-CA" sz="2800" dirty="0"/>
              <a:t>K-Means clustering</a:t>
            </a:r>
          </a:p>
          <a:p>
            <a:r>
              <a:rPr lang="en-CA" sz="2800" dirty="0"/>
              <a:t>DBSCAN clustering</a:t>
            </a:r>
          </a:p>
          <a:p>
            <a:r>
              <a:rPr lang="en-CA" sz="2800" dirty="0"/>
              <a:t>Used both for comparison</a:t>
            </a:r>
          </a:p>
          <a:p>
            <a:pPr lvl="2"/>
            <a:r>
              <a:rPr lang="en-CA" sz="2800" dirty="0"/>
              <a:t>Elbow + Silhouette Score</a:t>
            </a:r>
          </a:p>
        </p:txBody>
      </p:sp>
      <p:pic>
        <p:nvPicPr>
          <p:cNvPr id="5" name="Picture 4" descr="A hand holding a chess piece&#10;&#10;AI-generated content may be incorrect.">
            <a:extLst>
              <a:ext uri="{FF2B5EF4-FFF2-40B4-BE49-F238E27FC236}">
                <a16:creationId xmlns:a16="http://schemas.microsoft.com/office/drawing/2014/main" id="{5B77D2EE-0E8C-FED8-1748-321CF9FC48C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341" r="19781" b="-1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D7F64A8-D625-4F61-A290-B499BB62A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89540" y="1283074"/>
            <a:ext cx="4351438" cy="859195"/>
          </a:xfrm>
        </p:spPr>
        <p:txBody>
          <a:bodyPr anchor="b">
            <a:normAutofit/>
          </a:bodyPr>
          <a:lstStyle/>
          <a:p>
            <a:pPr algn="l"/>
            <a:r>
              <a:rPr lang="en-CA" sz="3500" dirty="0">
                <a:solidFill>
                  <a:schemeClr val="accent1">
                    <a:lumMod val="75000"/>
                  </a:schemeClr>
                </a:solidFill>
              </a:rPr>
              <a:t>Outlier Impact</a:t>
            </a:r>
          </a:p>
        </p:txBody>
      </p:sp>
      <p:pic>
        <p:nvPicPr>
          <p:cNvPr id="7" name="Graphic 6" descr="Table">
            <a:extLst>
              <a:ext uri="{FF2B5EF4-FFF2-40B4-BE49-F238E27FC236}">
                <a16:creationId xmlns:a16="http://schemas.microsoft.com/office/drawing/2014/main" id="{4585B997-3098-E38E-9E22-4D9758D93A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2711" y="2843834"/>
            <a:ext cx="898899" cy="898899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40523" y="3306618"/>
            <a:ext cx="5646968" cy="20818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2400" dirty="0"/>
              <a:t>A customer 'guest-United Kingdom' had extreme values which distorted cluster boundaries and we removed it for cleaner segmentation</a:t>
            </a:r>
          </a:p>
        </p:txBody>
      </p:sp>
      <p:pic>
        <p:nvPicPr>
          <p:cNvPr id="9" name="Graphic 8" descr="Table">
            <a:extLst>
              <a:ext uri="{FF2B5EF4-FFF2-40B4-BE49-F238E27FC236}">
                <a16:creationId xmlns:a16="http://schemas.microsoft.com/office/drawing/2014/main" id="{8D8B3FC1-44B0-4755-882E-6652BB71B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81073" y="1469503"/>
            <a:ext cx="3918995" cy="39189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/>
          </a:bodyPr>
          <a:lstStyle/>
          <a:p>
            <a:r>
              <a:rPr lang="en-CA" sz="3500" dirty="0">
                <a:solidFill>
                  <a:schemeClr val="accent1">
                    <a:lumMod val="75000"/>
                  </a:schemeClr>
                </a:solidFill>
              </a:rPr>
              <a:t>K-Means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0" y="2470244"/>
            <a:ext cx="4000647" cy="376983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CA" sz="2800" dirty="0"/>
          </a:p>
          <a:p>
            <a:r>
              <a:rPr lang="en-CA" sz="2800" dirty="0"/>
              <a:t>Elbow plot</a:t>
            </a:r>
          </a:p>
          <a:p>
            <a:r>
              <a:rPr lang="en-CA" sz="2800" dirty="0"/>
              <a:t>Silhouette plot</a:t>
            </a:r>
          </a:p>
          <a:p>
            <a:r>
              <a:rPr lang="en-CA" sz="2800" dirty="0"/>
              <a:t>Cluster scatter plots</a:t>
            </a:r>
          </a:p>
        </p:txBody>
      </p:sp>
      <p:pic>
        <p:nvPicPr>
          <p:cNvPr id="5" name="Picture 4" descr="A picture of an electromagnetic radiation">
            <a:extLst>
              <a:ext uri="{FF2B5EF4-FFF2-40B4-BE49-F238E27FC236}">
                <a16:creationId xmlns:a16="http://schemas.microsoft.com/office/drawing/2014/main" id="{E39FB321-D402-2E26-9FDA-9DD3A929DC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045" r="29932" b="-1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B296C7-6A94-DA90-61A4-CAE72735D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A1239951-FB8A-D5DA-F36A-B52A57961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AF826C-D99A-820F-906E-C125BEA13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350" y="762001"/>
            <a:ext cx="4000647" cy="1708242"/>
          </a:xfrm>
        </p:spPr>
        <p:txBody>
          <a:bodyPr anchor="ctr">
            <a:normAutofit/>
          </a:bodyPr>
          <a:lstStyle/>
          <a:p>
            <a:r>
              <a:rPr lang="en-CA" sz="3500" dirty="0">
                <a:solidFill>
                  <a:schemeClr val="accent1">
                    <a:lumMod val="75000"/>
                  </a:schemeClr>
                </a:solidFill>
              </a:rPr>
              <a:t>K-Means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119E7-1680-B655-21F3-550A01962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241" y="3068809"/>
            <a:ext cx="4000647" cy="263789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CA" sz="2800" dirty="0"/>
          </a:p>
          <a:p>
            <a:r>
              <a:rPr lang="en-CA" sz="2800" dirty="0"/>
              <a:t>Elbow plot</a:t>
            </a:r>
          </a:p>
          <a:p>
            <a:r>
              <a:rPr lang="en-CA" sz="2800" dirty="0"/>
              <a:t>Silhouette plot</a:t>
            </a:r>
          </a:p>
          <a:p>
            <a:r>
              <a:rPr lang="en-CA" sz="2800" dirty="0"/>
              <a:t>Cluster scatter plots</a:t>
            </a:r>
          </a:p>
        </p:txBody>
      </p:sp>
      <p:pic>
        <p:nvPicPr>
          <p:cNvPr id="5" name="Picture 4" descr="A picture of an electromagnetic radiation">
            <a:extLst>
              <a:ext uri="{FF2B5EF4-FFF2-40B4-BE49-F238E27FC236}">
                <a16:creationId xmlns:a16="http://schemas.microsoft.com/office/drawing/2014/main" id="{C5B6BDA7-BDA9-63F3-DF49-707646871C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045" r="29932" b="-1"/>
          <a:stretch>
            <a:fillRect/>
          </a:stretch>
        </p:blipFill>
        <p:spPr>
          <a:xfrm>
            <a:off x="5143347" y="-10886"/>
            <a:ext cx="4000653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56297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CA" sz="5400"/>
              <a:t>DBSCAN Results (Placeholders)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n-CA" sz="2100"/>
              <a:t>Insert:</a:t>
            </a:r>
          </a:p>
          <a:p>
            <a:r>
              <a:rPr lang="en-CA" sz="2100"/>
              <a:t>Parameter tuning visuals</a:t>
            </a:r>
          </a:p>
          <a:p>
            <a:r>
              <a:rPr lang="en-CA" sz="2100"/>
              <a:t>Silhouette or cluster map</a:t>
            </a:r>
          </a:p>
          <a:p>
            <a:r>
              <a:rPr lang="en-CA" sz="2100"/>
              <a:t>Cluster distribution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6825" y="1188637"/>
            <a:ext cx="2241175" cy="4480726"/>
          </a:xfrm>
        </p:spPr>
        <p:txBody>
          <a:bodyPr>
            <a:normAutofit/>
          </a:bodyPr>
          <a:lstStyle/>
          <a:p>
            <a:pPr algn="r"/>
            <a:r>
              <a:rPr lang="en-CA" sz="2700"/>
              <a:t>Model Interpretation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2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1444" y="1648870"/>
            <a:ext cx="3724737" cy="3560260"/>
          </a:xfrm>
        </p:spPr>
        <p:txBody>
          <a:bodyPr anchor="ctr">
            <a:normAutofit/>
          </a:bodyPr>
          <a:lstStyle/>
          <a:p>
            <a:r>
              <a:rPr lang="en-CA" sz="2400" dirty="0"/>
              <a:t>PCA used to visualize clusters</a:t>
            </a:r>
          </a:p>
          <a:p>
            <a:r>
              <a:rPr lang="en-CA" sz="2400" dirty="0"/>
              <a:t>Clusters reflect spending patterns</a:t>
            </a:r>
          </a:p>
          <a:p>
            <a:r>
              <a:rPr lang="en-CA" sz="2400" dirty="0"/>
              <a:t>Identified high-value vs low-frequency customers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FA9B6C6-A247-48A8-9A1C-1E36FA945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945" y="590062"/>
            <a:ext cx="4057242" cy="28389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9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Cluster Characteristics (Placeholder)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5945" y="4726451"/>
            <a:ext cx="7652676" cy="11981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📍 Insert PCA plots + cluster summary tables.</a:t>
            </a:r>
          </a:p>
        </p:txBody>
      </p:sp>
      <p:sp>
        <p:nvSpPr>
          <p:cNvPr id="29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3201" y="2744546"/>
            <a:ext cx="104279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1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2285" y="2973840"/>
            <a:ext cx="68353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3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01546" y="3198265"/>
            <a:ext cx="95785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75946" y="3496322"/>
            <a:ext cx="0" cy="335280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D13CC36-B950-4F02-9BAF-9A7EB26739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BDED99-B35B-4FEE-A274-8E8DB6FEE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68547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3D Hologram from iPad">
            <a:extLst>
              <a:ext uri="{FF2B5EF4-FFF2-40B4-BE49-F238E27FC236}">
                <a16:creationId xmlns:a16="http://schemas.microsoft.com/office/drawing/2014/main" id="{A68F6B17-DCC7-9797-CCB5-55B40C9BB5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931" r="43236" b="-1"/>
          <a:stretch>
            <a:fillRect/>
          </a:stretch>
        </p:blipFill>
        <p:spPr>
          <a:xfrm>
            <a:off x="5976166" y="10"/>
            <a:ext cx="3167834" cy="6857990"/>
          </a:xfrm>
          <a:custGeom>
            <a:avLst/>
            <a:gdLst/>
            <a:ahLst/>
            <a:cxnLst/>
            <a:rect l="l" t="t" r="r" b="b"/>
            <a:pathLst>
              <a:path w="4223778" h="6865951">
                <a:moveTo>
                  <a:pt x="478794" y="0"/>
                </a:moveTo>
                <a:lnTo>
                  <a:pt x="4223778" y="0"/>
                </a:lnTo>
                <a:lnTo>
                  <a:pt x="4223778" y="6865951"/>
                </a:lnTo>
                <a:lnTo>
                  <a:pt x="52221" y="6865951"/>
                </a:lnTo>
                <a:lnTo>
                  <a:pt x="49989" y="6844695"/>
                </a:lnTo>
                <a:cubicBezTo>
                  <a:pt x="46440" y="6810509"/>
                  <a:pt x="42891" y="6776323"/>
                  <a:pt x="41304" y="6765443"/>
                </a:cubicBezTo>
                <a:cubicBezTo>
                  <a:pt x="35681" y="6732842"/>
                  <a:pt x="13533" y="6716945"/>
                  <a:pt x="11182" y="6694817"/>
                </a:cubicBezTo>
                <a:cubicBezTo>
                  <a:pt x="16764" y="6697663"/>
                  <a:pt x="14835" y="6635151"/>
                  <a:pt x="10913" y="6627127"/>
                </a:cubicBezTo>
                <a:cubicBezTo>
                  <a:pt x="19564" y="6579282"/>
                  <a:pt x="-12861" y="6585665"/>
                  <a:pt x="5999" y="6527525"/>
                </a:cubicBezTo>
                <a:cubicBezTo>
                  <a:pt x="12287" y="6468687"/>
                  <a:pt x="19003" y="6409739"/>
                  <a:pt x="7685" y="6346547"/>
                </a:cubicBezTo>
                <a:cubicBezTo>
                  <a:pt x="31149" y="6240430"/>
                  <a:pt x="5895" y="6134229"/>
                  <a:pt x="12535" y="6084924"/>
                </a:cubicBezTo>
                <a:cubicBezTo>
                  <a:pt x="14696" y="6024961"/>
                  <a:pt x="53867" y="6020785"/>
                  <a:pt x="45320" y="5989742"/>
                </a:cubicBezTo>
                <a:cubicBezTo>
                  <a:pt x="41264" y="5940899"/>
                  <a:pt x="43258" y="5932095"/>
                  <a:pt x="40418" y="5889597"/>
                </a:cubicBezTo>
                <a:cubicBezTo>
                  <a:pt x="20860" y="5848611"/>
                  <a:pt x="51187" y="5792775"/>
                  <a:pt x="49796" y="5755774"/>
                </a:cubicBezTo>
                <a:cubicBezTo>
                  <a:pt x="43522" y="5734342"/>
                  <a:pt x="37368" y="5692606"/>
                  <a:pt x="49956" y="5684909"/>
                </a:cubicBezTo>
                <a:cubicBezTo>
                  <a:pt x="52825" y="5660429"/>
                  <a:pt x="62553" y="5623499"/>
                  <a:pt x="67011" y="5608897"/>
                </a:cubicBezTo>
                <a:lnTo>
                  <a:pt x="76701" y="5597290"/>
                </a:lnTo>
                <a:cubicBezTo>
                  <a:pt x="87717" y="5587442"/>
                  <a:pt x="82431" y="5550877"/>
                  <a:pt x="89120" y="5529641"/>
                </a:cubicBezTo>
                <a:cubicBezTo>
                  <a:pt x="69291" y="5496375"/>
                  <a:pt x="118554" y="5526326"/>
                  <a:pt x="94330" y="5470852"/>
                </a:cubicBezTo>
                <a:cubicBezTo>
                  <a:pt x="95483" y="5449506"/>
                  <a:pt x="114690" y="5429653"/>
                  <a:pt x="116139" y="5390946"/>
                </a:cubicBezTo>
                <a:cubicBezTo>
                  <a:pt x="127589" y="5337323"/>
                  <a:pt x="132794" y="5338384"/>
                  <a:pt x="135560" y="5284344"/>
                </a:cubicBezTo>
                <a:cubicBezTo>
                  <a:pt x="143629" y="5226223"/>
                  <a:pt x="148113" y="5192743"/>
                  <a:pt x="158141" y="5143920"/>
                </a:cubicBezTo>
                <a:cubicBezTo>
                  <a:pt x="170128" y="5118849"/>
                  <a:pt x="159838" y="5102006"/>
                  <a:pt x="174950" y="5088188"/>
                </a:cubicBezTo>
                <a:cubicBezTo>
                  <a:pt x="197620" y="5107654"/>
                  <a:pt x="181875" y="4983257"/>
                  <a:pt x="203603" y="5010764"/>
                </a:cubicBezTo>
                <a:lnTo>
                  <a:pt x="258582" y="4919969"/>
                </a:lnTo>
                <a:cubicBezTo>
                  <a:pt x="238838" y="4883087"/>
                  <a:pt x="271098" y="4853332"/>
                  <a:pt x="287910" y="4849612"/>
                </a:cubicBezTo>
                <a:cubicBezTo>
                  <a:pt x="294156" y="4811643"/>
                  <a:pt x="286101" y="4834074"/>
                  <a:pt x="305439" y="4799017"/>
                </a:cubicBezTo>
                <a:cubicBezTo>
                  <a:pt x="322572" y="4758926"/>
                  <a:pt x="352642" y="4705848"/>
                  <a:pt x="373456" y="4667754"/>
                </a:cubicBezTo>
                <a:cubicBezTo>
                  <a:pt x="384080" y="4649919"/>
                  <a:pt x="401158" y="4670663"/>
                  <a:pt x="407944" y="4574050"/>
                </a:cubicBezTo>
                <a:cubicBezTo>
                  <a:pt x="408098" y="4548109"/>
                  <a:pt x="427782" y="4503327"/>
                  <a:pt x="425133" y="4462469"/>
                </a:cubicBezTo>
                <a:lnTo>
                  <a:pt x="433890" y="4364681"/>
                </a:lnTo>
                <a:cubicBezTo>
                  <a:pt x="430018" y="4339230"/>
                  <a:pt x="435361" y="4287915"/>
                  <a:pt x="440691" y="4222147"/>
                </a:cubicBezTo>
                <a:cubicBezTo>
                  <a:pt x="451463" y="4164562"/>
                  <a:pt x="497377" y="4067298"/>
                  <a:pt x="503057" y="3977136"/>
                </a:cubicBezTo>
                <a:cubicBezTo>
                  <a:pt x="519229" y="3939837"/>
                  <a:pt x="472839" y="3875689"/>
                  <a:pt x="507582" y="3776020"/>
                </a:cubicBezTo>
                <a:cubicBezTo>
                  <a:pt x="497716" y="3757477"/>
                  <a:pt x="518006" y="3707185"/>
                  <a:pt x="521577" y="3692206"/>
                </a:cubicBezTo>
                <a:cubicBezTo>
                  <a:pt x="525148" y="3677227"/>
                  <a:pt x="526352" y="3687655"/>
                  <a:pt x="529009" y="3686147"/>
                </a:cubicBezTo>
                <a:cubicBezTo>
                  <a:pt x="531848" y="3650325"/>
                  <a:pt x="545504" y="3563351"/>
                  <a:pt x="551870" y="3514534"/>
                </a:cubicBezTo>
                <a:cubicBezTo>
                  <a:pt x="561331" y="3487751"/>
                  <a:pt x="581973" y="3426419"/>
                  <a:pt x="567205" y="3393248"/>
                </a:cubicBezTo>
                <a:cubicBezTo>
                  <a:pt x="585208" y="3400657"/>
                  <a:pt x="563566" y="3353906"/>
                  <a:pt x="579630" y="3344723"/>
                </a:cubicBezTo>
                <a:cubicBezTo>
                  <a:pt x="592861" y="3339338"/>
                  <a:pt x="589379" y="3323900"/>
                  <a:pt x="592672" y="3310978"/>
                </a:cubicBezTo>
                <a:cubicBezTo>
                  <a:pt x="605351" y="3299735"/>
                  <a:pt x="594296" y="3237176"/>
                  <a:pt x="589270" y="3216655"/>
                </a:cubicBezTo>
                <a:cubicBezTo>
                  <a:pt x="566909" y="3160431"/>
                  <a:pt x="626099" y="3142203"/>
                  <a:pt x="609663" y="3096973"/>
                </a:cubicBezTo>
                <a:cubicBezTo>
                  <a:pt x="609191" y="3084373"/>
                  <a:pt x="615889" y="3033331"/>
                  <a:pt x="618886" y="3023628"/>
                </a:cubicBezTo>
                <a:lnTo>
                  <a:pt x="630425" y="2998646"/>
                </a:lnTo>
                <a:lnTo>
                  <a:pt x="640017" y="2995914"/>
                </a:lnTo>
                <a:lnTo>
                  <a:pt x="643600" y="2978244"/>
                </a:lnTo>
                <a:lnTo>
                  <a:pt x="659520" y="2950805"/>
                </a:lnTo>
                <a:cubicBezTo>
                  <a:pt x="620152" y="2937671"/>
                  <a:pt x="687598" y="2860550"/>
                  <a:pt x="650890" y="2864933"/>
                </a:cubicBezTo>
                <a:cubicBezTo>
                  <a:pt x="663707" y="2817056"/>
                  <a:pt x="662078" y="2779813"/>
                  <a:pt x="640210" y="2741864"/>
                </a:cubicBezTo>
                <a:cubicBezTo>
                  <a:pt x="634452" y="2649732"/>
                  <a:pt x="665268" y="2597914"/>
                  <a:pt x="639387" y="2510931"/>
                </a:cubicBezTo>
                <a:cubicBezTo>
                  <a:pt x="645574" y="2407642"/>
                  <a:pt x="671719" y="2317589"/>
                  <a:pt x="680438" y="2227415"/>
                </a:cubicBezTo>
                <a:cubicBezTo>
                  <a:pt x="664175" y="2189847"/>
                  <a:pt x="704423" y="2141655"/>
                  <a:pt x="688135" y="2054289"/>
                </a:cubicBezTo>
                <a:cubicBezTo>
                  <a:pt x="683239" y="2048201"/>
                  <a:pt x="684029" y="1979567"/>
                  <a:pt x="681480" y="1972202"/>
                </a:cubicBezTo>
                <a:lnTo>
                  <a:pt x="686247" y="1917474"/>
                </a:lnTo>
                <a:lnTo>
                  <a:pt x="679783" y="1862721"/>
                </a:lnTo>
                <a:cubicBezTo>
                  <a:pt x="683677" y="1851209"/>
                  <a:pt x="688980" y="1824057"/>
                  <a:pt x="686639" y="1818227"/>
                </a:cubicBezTo>
                <a:lnTo>
                  <a:pt x="658235" y="1742488"/>
                </a:lnTo>
                <a:cubicBezTo>
                  <a:pt x="645662" y="1715201"/>
                  <a:pt x="661423" y="1719638"/>
                  <a:pt x="636990" y="1638389"/>
                </a:cubicBezTo>
                <a:cubicBezTo>
                  <a:pt x="626351" y="1601441"/>
                  <a:pt x="629414" y="1617134"/>
                  <a:pt x="602059" y="1570807"/>
                </a:cubicBezTo>
                <a:lnTo>
                  <a:pt x="570903" y="1513173"/>
                </a:lnTo>
                <a:cubicBezTo>
                  <a:pt x="570781" y="1503175"/>
                  <a:pt x="550561" y="1468055"/>
                  <a:pt x="550438" y="1458058"/>
                </a:cubicBezTo>
                <a:cubicBezTo>
                  <a:pt x="556848" y="1428101"/>
                  <a:pt x="546263" y="1422712"/>
                  <a:pt x="531416" y="1385478"/>
                </a:cubicBezTo>
                <a:cubicBezTo>
                  <a:pt x="527790" y="1370753"/>
                  <a:pt x="490725" y="1304050"/>
                  <a:pt x="501981" y="1265452"/>
                </a:cubicBezTo>
                <a:cubicBezTo>
                  <a:pt x="501825" y="1234781"/>
                  <a:pt x="490462" y="1187660"/>
                  <a:pt x="487370" y="1141743"/>
                </a:cubicBezTo>
                <a:cubicBezTo>
                  <a:pt x="484278" y="1095826"/>
                  <a:pt x="483852" y="1028118"/>
                  <a:pt x="483427" y="989948"/>
                </a:cubicBezTo>
                <a:cubicBezTo>
                  <a:pt x="483001" y="951779"/>
                  <a:pt x="494678" y="945984"/>
                  <a:pt x="484820" y="912725"/>
                </a:cubicBezTo>
                <a:cubicBezTo>
                  <a:pt x="467566" y="854951"/>
                  <a:pt x="510777" y="860797"/>
                  <a:pt x="475093" y="812798"/>
                </a:cubicBezTo>
                <a:cubicBezTo>
                  <a:pt x="461960" y="787034"/>
                  <a:pt x="498505" y="551948"/>
                  <a:pt x="461972" y="450605"/>
                </a:cubicBezTo>
                <a:cubicBezTo>
                  <a:pt x="470167" y="357604"/>
                  <a:pt x="458694" y="431306"/>
                  <a:pt x="465015" y="372906"/>
                </a:cubicBezTo>
                <a:cubicBezTo>
                  <a:pt x="503427" y="364177"/>
                  <a:pt x="489736" y="290341"/>
                  <a:pt x="490377" y="246134"/>
                </a:cubicBezTo>
                <a:cubicBezTo>
                  <a:pt x="491019" y="201927"/>
                  <a:pt x="449725" y="138160"/>
                  <a:pt x="468864" y="107666"/>
                </a:cubicBezTo>
                <a:cubicBezTo>
                  <a:pt x="468282" y="89794"/>
                  <a:pt x="477749" y="76947"/>
                  <a:pt x="477167" y="59075"/>
                </a:cubicBezTo>
                <a:lnTo>
                  <a:pt x="472992" y="14560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5" y="609600"/>
            <a:ext cx="5123391" cy="1322887"/>
          </a:xfrm>
        </p:spPr>
        <p:txBody>
          <a:bodyPr>
            <a:normAutofit/>
          </a:bodyPr>
          <a:lstStyle/>
          <a:p>
            <a:r>
              <a:rPr lang="en-CA" dirty="0">
                <a:solidFill>
                  <a:schemeClr val="accent1">
                    <a:lumMod val="75000"/>
                  </a:schemeClr>
                </a:solidFill>
              </a:rPr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291" y="2194102"/>
            <a:ext cx="5495875" cy="3908585"/>
          </a:xfrm>
        </p:spPr>
        <p:txBody>
          <a:bodyPr>
            <a:noAutofit/>
          </a:bodyPr>
          <a:lstStyle/>
          <a:p>
            <a:r>
              <a:rPr lang="en-CA" sz="2800" dirty="0"/>
              <a:t>K-Means (after removing outlier) produced best segmentation</a:t>
            </a:r>
          </a:p>
          <a:p>
            <a:r>
              <a:rPr lang="en-CA" sz="2800" dirty="0"/>
              <a:t>Clear cluster separation</a:t>
            </a:r>
          </a:p>
          <a:p>
            <a:r>
              <a:rPr lang="en-CA" sz="2800" dirty="0"/>
              <a:t>Helps identify high-value customers</a:t>
            </a:r>
          </a:p>
          <a:p>
            <a:r>
              <a:rPr lang="en-CA" sz="2800" dirty="0"/>
              <a:t>Supports targeted marketing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D7F64A8-D625-4F61-A290-B499BB62A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0522" y="1671569"/>
            <a:ext cx="4351438" cy="2228760"/>
          </a:xfrm>
        </p:spPr>
        <p:txBody>
          <a:bodyPr anchor="b">
            <a:normAutofit/>
          </a:bodyPr>
          <a:lstStyle/>
          <a:p>
            <a:pPr algn="l"/>
            <a:r>
              <a:rPr lang="en-CA" sz="3500" dirty="0"/>
              <a:t>Team Members</a:t>
            </a:r>
          </a:p>
        </p:txBody>
      </p:sp>
      <p:pic>
        <p:nvPicPr>
          <p:cNvPr id="7" name="Graphic 6" descr="Teamwork">
            <a:extLst>
              <a:ext uri="{FF2B5EF4-FFF2-40B4-BE49-F238E27FC236}">
                <a16:creationId xmlns:a16="http://schemas.microsoft.com/office/drawing/2014/main" id="{C7421596-8D6C-DD4C-B7B5-2DC0D029BE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2711" y="2843834"/>
            <a:ext cx="898899" cy="898899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40523" y="4072044"/>
            <a:ext cx="4351437" cy="2057045"/>
          </a:xfrm>
        </p:spPr>
        <p:txBody>
          <a:bodyPr>
            <a:normAutofit/>
          </a:bodyPr>
          <a:lstStyle/>
          <a:p>
            <a:r>
              <a:rPr lang="en-CA" sz="1700" dirty="0"/>
              <a:t>Brian </a:t>
            </a:r>
            <a:r>
              <a:rPr lang="en-CA" sz="1700" dirty="0" err="1"/>
              <a:t>Ssekalegga</a:t>
            </a:r>
            <a:endParaRPr lang="en-CA" sz="1700" dirty="0"/>
          </a:p>
          <a:p>
            <a:r>
              <a:rPr lang="en-CA" sz="1700" dirty="0"/>
              <a:t>Luis Curiel Rojas</a:t>
            </a:r>
          </a:p>
          <a:p>
            <a:r>
              <a:rPr lang="en-CA" sz="1700" dirty="0"/>
              <a:t>Meisam Mofidi</a:t>
            </a:r>
          </a:p>
          <a:p>
            <a:r>
              <a:rPr lang="en-CA" sz="1700" dirty="0" err="1"/>
              <a:t>Minling</a:t>
            </a:r>
            <a:r>
              <a:rPr lang="en-CA" sz="1700" dirty="0"/>
              <a:t> Lian</a:t>
            </a:r>
          </a:p>
        </p:txBody>
      </p:sp>
      <p:pic>
        <p:nvPicPr>
          <p:cNvPr id="9" name="Graphic 8" descr="Teamwork">
            <a:extLst>
              <a:ext uri="{FF2B5EF4-FFF2-40B4-BE49-F238E27FC236}">
                <a16:creationId xmlns:a16="http://schemas.microsoft.com/office/drawing/2014/main" id="{B49686A0-EEC4-496C-B823-9B1C3E835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81073" y="1469503"/>
            <a:ext cx="3918995" cy="39189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847</Words>
  <Application>Microsoft Macintosh PowerPoint</Application>
  <PresentationFormat>On-screen Show (4:3)</PresentationFormat>
  <Paragraphs>109</Paragraphs>
  <Slides>25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Machine Learning Online Retail Customer Segmentation</vt:lpstr>
      <vt:lpstr>Project Overview</vt:lpstr>
      <vt:lpstr>PowerPoint Presentation</vt:lpstr>
      <vt:lpstr>PowerPoint Presentation</vt:lpstr>
      <vt:lpstr>PowerPoint Presentation</vt:lpstr>
      <vt:lpstr>Future Work</vt:lpstr>
      <vt:lpstr>Appendix</vt:lpstr>
      <vt:lpstr>Dataset Overview</vt:lpstr>
      <vt:lpstr>Data Cleaning &amp; Preprocessing</vt:lpstr>
      <vt:lpstr>Exploratory Data Analysis</vt:lpstr>
      <vt:lpstr>Revenue by country</vt:lpstr>
      <vt:lpstr>Top-selling products</vt:lpstr>
      <vt:lpstr>Top-selling products</vt:lpstr>
      <vt:lpstr>RFM Feature Engineering</vt:lpstr>
      <vt:lpstr>RFM Distribution &amp; Interpretation</vt:lpstr>
      <vt:lpstr>PowerPoint Presentation</vt:lpstr>
      <vt:lpstr>Algorithms Explored</vt:lpstr>
      <vt:lpstr>Outlier Impact</vt:lpstr>
      <vt:lpstr>K-Means Results</vt:lpstr>
      <vt:lpstr>K-Means Results</vt:lpstr>
      <vt:lpstr>DBSCAN Results (Placeholders)</vt:lpstr>
      <vt:lpstr>Model Interpretation</vt:lpstr>
      <vt:lpstr>Cluster Characteristics (Placeholder)</vt:lpstr>
      <vt:lpstr>Conclusions</vt:lpstr>
      <vt:lpstr>Team Members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meisam mofidi</cp:lastModifiedBy>
  <cp:revision>4</cp:revision>
  <dcterms:created xsi:type="dcterms:W3CDTF">2013-01-27T09:14:16Z</dcterms:created>
  <dcterms:modified xsi:type="dcterms:W3CDTF">2025-11-14T01:24:25Z</dcterms:modified>
  <cp:category/>
</cp:coreProperties>
</file>