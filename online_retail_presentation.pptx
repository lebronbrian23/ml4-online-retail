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80" r:id="rId5"/>
    <p:sldId id="285" r:id="rId6"/>
    <p:sldId id="284" r:id="rId7"/>
    <p:sldId id="286" r:id="rId8"/>
    <p:sldId id="282" r:id="rId9"/>
    <p:sldId id="258" r:id="rId10"/>
    <p:sldId id="259" r:id="rId11"/>
    <p:sldId id="260" r:id="rId12"/>
    <p:sldId id="272" r:id="rId13"/>
    <p:sldId id="273" r:id="rId14"/>
    <p:sldId id="275" r:id="rId15"/>
    <p:sldId id="261" r:id="rId16"/>
    <p:sldId id="262" r:id="rId17"/>
    <p:sldId id="277" r:id="rId18"/>
    <p:sldId id="263" r:id="rId19"/>
    <p:sldId id="264" r:id="rId20"/>
    <p:sldId id="265" r:id="rId21"/>
    <p:sldId id="266" r:id="rId22"/>
    <p:sldId id="267" r:id="rId23"/>
    <p:sldId id="287" r:id="rId24"/>
    <p:sldId id="26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/>
    <p:restoredTop sz="94801"/>
  </p:normalViewPr>
  <p:slideViewPr>
    <p:cSldViewPr snapToGrid="0" snapToObjects="1">
      <p:cViewPr varScale="1">
        <p:scale>
          <a:sx n="41" d="100"/>
          <a:sy n="41" d="100"/>
        </p:scale>
        <p:origin x="488" y="2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4F4007-B11B-491D-BA8C-E5AC2169C01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60A44D6-6B22-4F8B-8E8B-CEE5F96229C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Top-selling products</a:t>
          </a:r>
        </a:p>
      </dgm:t>
    </dgm:pt>
    <dgm:pt modelId="{3598042B-4B98-4EE0-95B3-58C0AE592610}" type="parTrans" cxnId="{FF5D8B68-94DA-4FF3-936A-7BE73333E46A}">
      <dgm:prSet/>
      <dgm:spPr/>
      <dgm:t>
        <a:bodyPr/>
        <a:lstStyle/>
        <a:p>
          <a:endParaRPr lang="en-US"/>
        </a:p>
      </dgm:t>
    </dgm:pt>
    <dgm:pt modelId="{9AAB575F-C199-426A-86D0-21E15382B55F}" type="sibTrans" cxnId="{FF5D8B68-94DA-4FF3-936A-7BE73333E46A}">
      <dgm:prSet/>
      <dgm:spPr/>
      <dgm:t>
        <a:bodyPr/>
        <a:lstStyle/>
        <a:p>
          <a:endParaRPr lang="en-US"/>
        </a:p>
      </dgm:t>
    </dgm:pt>
    <dgm:pt modelId="{EB85C335-26CC-40FC-A9CC-7A5B7D9188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Revenue by country</a:t>
          </a:r>
        </a:p>
      </dgm:t>
    </dgm:pt>
    <dgm:pt modelId="{94FBB8D7-A0FD-45B8-97E5-4F7806C8A900}" type="parTrans" cxnId="{3F114CA9-D961-4E4B-BA71-B4E8559D7E16}">
      <dgm:prSet/>
      <dgm:spPr/>
      <dgm:t>
        <a:bodyPr/>
        <a:lstStyle/>
        <a:p>
          <a:endParaRPr lang="en-US"/>
        </a:p>
      </dgm:t>
    </dgm:pt>
    <dgm:pt modelId="{CD00FDC3-860B-498D-AB7F-957B21EC534B}" type="sibTrans" cxnId="{3F114CA9-D961-4E4B-BA71-B4E8559D7E16}">
      <dgm:prSet/>
      <dgm:spPr/>
      <dgm:t>
        <a:bodyPr/>
        <a:lstStyle/>
        <a:p>
          <a:endParaRPr lang="en-US"/>
        </a:p>
      </dgm:t>
    </dgm:pt>
    <dgm:pt modelId="{FAD0D9E8-6BD2-447B-9F3A-4035054232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Quantity vs Price correlation plot</a:t>
          </a:r>
        </a:p>
      </dgm:t>
    </dgm:pt>
    <dgm:pt modelId="{26203CE6-B7F0-4B34-BC2E-12575241C6AC}" type="parTrans" cxnId="{E6514587-93E2-4AF9-ACAA-62F2C59777CB}">
      <dgm:prSet/>
      <dgm:spPr/>
      <dgm:t>
        <a:bodyPr/>
        <a:lstStyle/>
        <a:p>
          <a:endParaRPr lang="en-US"/>
        </a:p>
      </dgm:t>
    </dgm:pt>
    <dgm:pt modelId="{5B0CB2D6-454E-4580-8C4F-C42A33A72D19}" type="sibTrans" cxnId="{E6514587-93E2-4AF9-ACAA-62F2C59777CB}">
      <dgm:prSet/>
      <dgm:spPr/>
      <dgm:t>
        <a:bodyPr/>
        <a:lstStyle/>
        <a:p>
          <a:endParaRPr lang="en-US"/>
        </a:p>
      </dgm:t>
    </dgm:pt>
    <dgm:pt modelId="{50194DFC-3C90-4EEA-95AD-147B83BF349B}" type="pres">
      <dgm:prSet presAssocID="{D64F4007-B11B-491D-BA8C-E5AC2169C01A}" presName="root" presStyleCnt="0">
        <dgm:presLayoutVars>
          <dgm:dir/>
          <dgm:resizeHandles val="exact"/>
        </dgm:presLayoutVars>
      </dgm:prSet>
      <dgm:spPr/>
    </dgm:pt>
    <dgm:pt modelId="{24FED44F-4E75-4EC3-8982-81465D897E18}" type="pres">
      <dgm:prSet presAssocID="{060A44D6-6B22-4F8B-8E8B-CEE5F96229C2}" presName="compNode" presStyleCnt="0"/>
      <dgm:spPr/>
    </dgm:pt>
    <dgm:pt modelId="{A24EDC72-87BC-4CE1-9892-2AFDA5FD4924}" type="pres">
      <dgm:prSet presAssocID="{060A44D6-6B22-4F8B-8E8B-CEE5F96229C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B819A07-B181-4707-84B2-08F33BAF2E23}" type="pres">
      <dgm:prSet presAssocID="{060A44D6-6B22-4F8B-8E8B-CEE5F96229C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360138FC-9D8D-4C05-9081-67E4E7818B9C}" type="pres">
      <dgm:prSet presAssocID="{060A44D6-6B22-4F8B-8E8B-CEE5F96229C2}" presName="spaceRect" presStyleCnt="0"/>
      <dgm:spPr/>
    </dgm:pt>
    <dgm:pt modelId="{48A41593-79EC-4D7E-9C00-10A52EACF5BE}" type="pres">
      <dgm:prSet presAssocID="{060A44D6-6B22-4F8B-8E8B-CEE5F96229C2}" presName="textRect" presStyleLbl="revTx" presStyleIdx="0" presStyleCnt="3">
        <dgm:presLayoutVars>
          <dgm:chMax val="1"/>
          <dgm:chPref val="1"/>
        </dgm:presLayoutVars>
      </dgm:prSet>
      <dgm:spPr/>
    </dgm:pt>
    <dgm:pt modelId="{F4D4C63B-3782-446F-BC6A-36AEEFB92C63}" type="pres">
      <dgm:prSet presAssocID="{9AAB575F-C199-426A-86D0-21E15382B55F}" presName="sibTrans" presStyleCnt="0"/>
      <dgm:spPr/>
    </dgm:pt>
    <dgm:pt modelId="{C6AF8C9F-CB77-40E3-8956-3227B996BD40}" type="pres">
      <dgm:prSet presAssocID="{EB85C335-26CC-40FC-A9CC-7A5B7D918838}" presName="compNode" presStyleCnt="0"/>
      <dgm:spPr/>
    </dgm:pt>
    <dgm:pt modelId="{53529A78-09F5-4805-BD8D-55B2DA11E8A2}" type="pres">
      <dgm:prSet presAssocID="{EB85C335-26CC-40FC-A9CC-7A5B7D91883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EF45E3E-DCDF-4B7B-9641-8EFF690B83CA}" type="pres">
      <dgm:prSet presAssocID="{EB85C335-26CC-40FC-A9CC-7A5B7D9188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878DFB7-27B6-4D77-8000-E476F2DBD3D8}" type="pres">
      <dgm:prSet presAssocID="{EB85C335-26CC-40FC-A9CC-7A5B7D918838}" presName="spaceRect" presStyleCnt="0"/>
      <dgm:spPr/>
    </dgm:pt>
    <dgm:pt modelId="{0D880973-1F75-43B8-BC95-48D9721E7F48}" type="pres">
      <dgm:prSet presAssocID="{EB85C335-26CC-40FC-A9CC-7A5B7D918838}" presName="textRect" presStyleLbl="revTx" presStyleIdx="1" presStyleCnt="3">
        <dgm:presLayoutVars>
          <dgm:chMax val="1"/>
          <dgm:chPref val="1"/>
        </dgm:presLayoutVars>
      </dgm:prSet>
      <dgm:spPr/>
    </dgm:pt>
    <dgm:pt modelId="{BE9533D1-CA49-4C7E-8E52-B5A0CB390360}" type="pres">
      <dgm:prSet presAssocID="{CD00FDC3-860B-498D-AB7F-957B21EC534B}" presName="sibTrans" presStyleCnt="0"/>
      <dgm:spPr/>
    </dgm:pt>
    <dgm:pt modelId="{0E031DE3-0B63-4769-A659-EEC1207E7C5A}" type="pres">
      <dgm:prSet presAssocID="{FAD0D9E8-6BD2-447B-9F3A-40350542325A}" presName="compNode" presStyleCnt="0"/>
      <dgm:spPr/>
    </dgm:pt>
    <dgm:pt modelId="{C417A519-CC98-47DF-8DF3-41BEBF803291}" type="pres">
      <dgm:prSet presAssocID="{FAD0D9E8-6BD2-447B-9F3A-40350542325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B3497A0-2313-482D-9DEC-0BA47EDF7600}" type="pres">
      <dgm:prSet presAssocID="{FAD0D9E8-6BD2-447B-9F3A-4035054232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6A1D2BA-F31E-41E3-8103-A5B66891521B}" type="pres">
      <dgm:prSet presAssocID="{FAD0D9E8-6BD2-447B-9F3A-40350542325A}" presName="spaceRect" presStyleCnt="0"/>
      <dgm:spPr/>
    </dgm:pt>
    <dgm:pt modelId="{F7D682EE-3927-4E72-9DEF-B49BAC514029}" type="pres">
      <dgm:prSet presAssocID="{FAD0D9E8-6BD2-447B-9F3A-40350542325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9C0310B-2CFA-4D58-A51A-AA271B903C43}" type="presOf" srcId="{060A44D6-6B22-4F8B-8E8B-CEE5F96229C2}" destId="{48A41593-79EC-4D7E-9C00-10A52EACF5BE}" srcOrd="0" destOrd="0" presId="urn:microsoft.com/office/officeart/2018/5/layout/IconLeafLabelList"/>
    <dgm:cxn modelId="{6A2C942B-11DC-4848-80B0-F78348D8A642}" type="presOf" srcId="{FAD0D9E8-6BD2-447B-9F3A-40350542325A}" destId="{F7D682EE-3927-4E72-9DEF-B49BAC514029}" srcOrd="0" destOrd="0" presId="urn:microsoft.com/office/officeart/2018/5/layout/IconLeafLabelList"/>
    <dgm:cxn modelId="{FF5D8B68-94DA-4FF3-936A-7BE73333E46A}" srcId="{D64F4007-B11B-491D-BA8C-E5AC2169C01A}" destId="{060A44D6-6B22-4F8B-8E8B-CEE5F96229C2}" srcOrd="0" destOrd="0" parTransId="{3598042B-4B98-4EE0-95B3-58C0AE592610}" sibTransId="{9AAB575F-C199-426A-86D0-21E15382B55F}"/>
    <dgm:cxn modelId="{E6514587-93E2-4AF9-ACAA-62F2C59777CB}" srcId="{D64F4007-B11B-491D-BA8C-E5AC2169C01A}" destId="{FAD0D9E8-6BD2-447B-9F3A-40350542325A}" srcOrd="2" destOrd="0" parTransId="{26203CE6-B7F0-4B34-BC2E-12575241C6AC}" sibTransId="{5B0CB2D6-454E-4580-8C4F-C42A33A72D19}"/>
    <dgm:cxn modelId="{53FAEBA8-2AC5-4533-94C8-AA3F89D5DE54}" type="presOf" srcId="{EB85C335-26CC-40FC-A9CC-7A5B7D918838}" destId="{0D880973-1F75-43B8-BC95-48D9721E7F48}" srcOrd="0" destOrd="0" presId="urn:microsoft.com/office/officeart/2018/5/layout/IconLeafLabelList"/>
    <dgm:cxn modelId="{3F114CA9-D961-4E4B-BA71-B4E8559D7E16}" srcId="{D64F4007-B11B-491D-BA8C-E5AC2169C01A}" destId="{EB85C335-26CC-40FC-A9CC-7A5B7D918838}" srcOrd="1" destOrd="0" parTransId="{94FBB8D7-A0FD-45B8-97E5-4F7806C8A900}" sibTransId="{CD00FDC3-860B-498D-AB7F-957B21EC534B}"/>
    <dgm:cxn modelId="{85E8CCAF-17F3-4D94-89FF-85B8C5C11F13}" type="presOf" srcId="{D64F4007-B11B-491D-BA8C-E5AC2169C01A}" destId="{50194DFC-3C90-4EEA-95AD-147B83BF349B}" srcOrd="0" destOrd="0" presId="urn:microsoft.com/office/officeart/2018/5/layout/IconLeafLabelList"/>
    <dgm:cxn modelId="{F0D18076-2D1A-419B-841E-E9192635BF1B}" type="presParOf" srcId="{50194DFC-3C90-4EEA-95AD-147B83BF349B}" destId="{24FED44F-4E75-4EC3-8982-81465D897E18}" srcOrd="0" destOrd="0" presId="urn:microsoft.com/office/officeart/2018/5/layout/IconLeafLabelList"/>
    <dgm:cxn modelId="{E6618E3B-EC2A-42F2-B090-3475A7DD6A91}" type="presParOf" srcId="{24FED44F-4E75-4EC3-8982-81465D897E18}" destId="{A24EDC72-87BC-4CE1-9892-2AFDA5FD4924}" srcOrd="0" destOrd="0" presId="urn:microsoft.com/office/officeart/2018/5/layout/IconLeafLabelList"/>
    <dgm:cxn modelId="{C3547203-7361-4DAC-B22B-A4CB5D9FB9DC}" type="presParOf" srcId="{24FED44F-4E75-4EC3-8982-81465D897E18}" destId="{8B819A07-B181-4707-84B2-08F33BAF2E23}" srcOrd="1" destOrd="0" presId="urn:microsoft.com/office/officeart/2018/5/layout/IconLeafLabelList"/>
    <dgm:cxn modelId="{00F0E420-0261-475C-9CEA-8ECE64F04295}" type="presParOf" srcId="{24FED44F-4E75-4EC3-8982-81465D897E18}" destId="{360138FC-9D8D-4C05-9081-67E4E7818B9C}" srcOrd="2" destOrd="0" presId="urn:microsoft.com/office/officeart/2018/5/layout/IconLeafLabelList"/>
    <dgm:cxn modelId="{778D7708-30D0-47A6-A3A2-316D475F8402}" type="presParOf" srcId="{24FED44F-4E75-4EC3-8982-81465D897E18}" destId="{48A41593-79EC-4D7E-9C00-10A52EACF5BE}" srcOrd="3" destOrd="0" presId="urn:microsoft.com/office/officeart/2018/5/layout/IconLeafLabelList"/>
    <dgm:cxn modelId="{335AD407-893F-4CFD-AA27-982FBAA0B503}" type="presParOf" srcId="{50194DFC-3C90-4EEA-95AD-147B83BF349B}" destId="{F4D4C63B-3782-446F-BC6A-36AEEFB92C63}" srcOrd="1" destOrd="0" presId="urn:microsoft.com/office/officeart/2018/5/layout/IconLeafLabelList"/>
    <dgm:cxn modelId="{D25DE870-D7D9-49F8-8D85-9618161D3CC1}" type="presParOf" srcId="{50194DFC-3C90-4EEA-95AD-147B83BF349B}" destId="{C6AF8C9F-CB77-40E3-8956-3227B996BD40}" srcOrd="2" destOrd="0" presId="urn:microsoft.com/office/officeart/2018/5/layout/IconLeafLabelList"/>
    <dgm:cxn modelId="{D9AECB57-9E76-41B1-9558-588F3453254B}" type="presParOf" srcId="{C6AF8C9F-CB77-40E3-8956-3227B996BD40}" destId="{53529A78-09F5-4805-BD8D-55B2DA11E8A2}" srcOrd="0" destOrd="0" presId="urn:microsoft.com/office/officeart/2018/5/layout/IconLeafLabelList"/>
    <dgm:cxn modelId="{C2D3D433-46DB-44F4-A17C-EFD95F222815}" type="presParOf" srcId="{C6AF8C9F-CB77-40E3-8956-3227B996BD40}" destId="{6EF45E3E-DCDF-4B7B-9641-8EFF690B83CA}" srcOrd="1" destOrd="0" presId="urn:microsoft.com/office/officeart/2018/5/layout/IconLeafLabelList"/>
    <dgm:cxn modelId="{BC34FF97-555F-434F-8949-01557895140E}" type="presParOf" srcId="{C6AF8C9F-CB77-40E3-8956-3227B996BD40}" destId="{9878DFB7-27B6-4D77-8000-E476F2DBD3D8}" srcOrd="2" destOrd="0" presId="urn:microsoft.com/office/officeart/2018/5/layout/IconLeafLabelList"/>
    <dgm:cxn modelId="{7D5034C5-9C27-4F11-8967-FB9A61086C91}" type="presParOf" srcId="{C6AF8C9F-CB77-40E3-8956-3227B996BD40}" destId="{0D880973-1F75-43B8-BC95-48D9721E7F48}" srcOrd="3" destOrd="0" presId="urn:microsoft.com/office/officeart/2018/5/layout/IconLeafLabelList"/>
    <dgm:cxn modelId="{52BBF71F-75D8-4133-B406-CB24CB38F659}" type="presParOf" srcId="{50194DFC-3C90-4EEA-95AD-147B83BF349B}" destId="{BE9533D1-CA49-4C7E-8E52-B5A0CB390360}" srcOrd="3" destOrd="0" presId="urn:microsoft.com/office/officeart/2018/5/layout/IconLeafLabelList"/>
    <dgm:cxn modelId="{A44FBAE9-5C73-441A-8109-6B095DE8D66A}" type="presParOf" srcId="{50194DFC-3C90-4EEA-95AD-147B83BF349B}" destId="{0E031DE3-0B63-4769-A659-EEC1207E7C5A}" srcOrd="4" destOrd="0" presId="urn:microsoft.com/office/officeart/2018/5/layout/IconLeafLabelList"/>
    <dgm:cxn modelId="{90EC8151-AC86-4332-9656-ED70AA63533B}" type="presParOf" srcId="{0E031DE3-0B63-4769-A659-EEC1207E7C5A}" destId="{C417A519-CC98-47DF-8DF3-41BEBF803291}" srcOrd="0" destOrd="0" presId="urn:microsoft.com/office/officeart/2018/5/layout/IconLeafLabelList"/>
    <dgm:cxn modelId="{53D31C7C-CE90-487D-9EAC-D635CF15206A}" type="presParOf" srcId="{0E031DE3-0B63-4769-A659-EEC1207E7C5A}" destId="{1B3497A0-2313-482D-9DEC-0BA47EDF7600}" srcOrd="1" destOrd="0" presId="urn:microsoft.com/office/officeart/2018/5/layout/IconLeafLabelList"/>
    <dgm:cxn modelId="{AD277051-43A2-4D96-A2CA-9D926B17F557}" type="presParOf" srcId="{0E031DE3-0B63-4769-A659-EEC1207E7C5A}" destId="{B6A1D2BA-F31E-41E3-8103-A5B66891521B}" srcOrd="2" destOrd="0" presId="urn:microsoft.com/office/officeart/2018/5/layout/IconLeafLabelList"/>
    <dgm:cxn modelId="{95D1302A-9E78-47FE-BE43-9463F9BF5F28}" type="presParOf" srcId="{0E031DE3-0B63-4769-A659-EEC1207E7C5A}" destId="{F7D682EE-3927-4E72-9DEF-B49BAC51402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EDC72-87BC-4CE1-9892-2AFDA5FD4924}">
      <dsp:nvSpPr>
        <dsp:cNvPr id="0" name=""/>
        <dsp:cNvSpPr/>
      </dsp:nvSpPr>
      <dsp:spPr>
        <a:xfrm>
          <a:off x="518185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19A07-B181-4707-84B2-08F33BAF2E23}">
      <dsp:nvSpPr>
        <dsp:cNvPr id="0" name=""/>
        <dsp:cNvSpPr/>
      </dsp:nvSpPr>
      <dsp:spPr>
        <a:xfrm>
          <a:off x="832623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41593-79EC-4D7E-9C00-10A52EACF5BE}">
      <dsp:nvSpPr>
        <dsp:cNvPr id="0" name=""/>
        <dsp:cNvSpPr/>
      </dsp:nvSpPr>
      <dsp:spPr>
        <a:xfrm>
          <a:off x="46529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Top-selling products</a:t>
          </a:r>
        </a:p>
      </dsp:txBody>
      <dsp:txXfrm>
        <a:off x="46529" y="2452202"/>
        <a:ext cx="2418750" cy="720000"/>
      </dsp:txXfrm>
    </dsp:sp>
    <dsp:sp modelId="{53529A78-09F5-4805-BD8D-55B2DA11E8A2}">
      <dsp:nvSpPr>
        <dsp:cNvPr id="0" name=""/>
        <dsp:cNvSpPr/>
      </dsp:nvSpPr>
      <dsp:spPr>
        <a:xfrm>
          <a:off x="3360216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45E3E-DCDF-4B7B-9641-8EFF690B83CA}">
      <dsp:nvSpPr>
        <dsp:cNvPr id="0" name=""/>
        <dsp:cNvSpPr/>
      </dsp:nvSpPr>
      <dsp:spPr>
        <a:xfrm>
          <a:off x="3674654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80973-1F75-43B8-BC95-48D9721E7F48}">
      <dsp:nvSpPr>
        <dsp:cNvPr id="0" name=""/>
        <dsp:cNvSpPr/>
      </dsp:nvSpPr>
      <dsp:spPr>
        <a:xfrm>
          <a:off x="2888560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Revenue by country</a:t>
          </a:r>
        </a:p>
      </dsp:txBody>
      <dsp:txXfrm>
        <a:off x="2888560" y="2452202"/>
        <a:ext cx="2418750" cy="720000"/>
      </dsp:txXfrm>
    </dsp:sp>
    <dsp:sp modelId="{C417A519-CC98-47DF-8DF3-41BEBF803291}">
      <dsp:nvSpPr>
        <dsp:cNvPr id="0" name=""/>
        <dsp:cNvSpPr/>
      </dsp:nvSpPr>
      <dsp:spPr>
        <a:xfrm>
          <a:off x="6202248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497A0-2313-482D-9DEC-0BA47EDF7600}">
      <dsp:nvSpPr>
        <dsp:cNvPr id="0" name=""/>
        <dsp:cNvSpPr/>
      </dsp:nvSpPr>
      <dsp:spPr>
        <a:xfrm>
          <a:off x="6516685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682EE-3927-4E72-9DEF-B49BAC514029}">
      <dsp:nvSpPr>
        <dsp:cNvPr id="0" name=""/>
        <dsp:cNvSpPr/>
      </dsp:nvSpPr>
      <dsp:spPr>
        <a:xfrm>
          <a:off x="5730591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Quantity vs Price correlation plot</a:t>
          </a:r>
        </a:p>
      </dsp:txBody>
      <dsp:txXfrm>
        <a:off x="5730591" y="24522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71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project, dataset, and high-level goal: segmenting customers using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RFM ties into customer behavior analysis and why clustering is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4AE5D-4AF6-7845-F1A6-AD6ECBBD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AF123-8424-9A27-C4EC-3CAFED85F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6846B-01AA-ED47-8546-68F2B5ABC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RFM ties into customer behavior analysis and why clustering is useful.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F33C-83C3-7931-C948-4D4BCA6BB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54759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996D7-2AD2-55C5-C844-4CF197B5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52EED-3C11-B3AE-0784-22C2CE211C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06CED-96DD-CEA0-51DE-CD53914FB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RFM ties into customer behavior analysis and why clustering is useful.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DBA33-DAB0-FE47-C82E-32937EE52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6314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F496-BC0D-958C-77F3-A1018809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43D6F-78FD-1053-D701-375BE801C0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A0AD1-A1FB-0E30-7825-C2FA05BC7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RFM ties into customer behavior analysis and why clustering is useful.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B578B-E30A-4343-C063-384780BFA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24685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2C16-21C0-4C1A-CA9F-27F02349C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DCBA9-C62F-865A-1885-22431DD00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F75CE-3CFB-72BB-900E-66C35935F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RFM ties into customer behavior analysis and why clustering is useful.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0296D-2AD9-3D5D-B19C-B1B0F3B87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37200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D167-7686-8292-DB7A-8F11F8C4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0F80D-1015-ADE5-152B-888C94520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86D64-BDAA-69C9-F8B3-F42A3E14A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RFM ties into customer behavior analysis and why clustering is useful.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7E47D-23BE-3FA5-6022-B18DBE569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87953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the data is transactional and requires aggregation into customer-level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preprocessing is critical for reliable clustering. Mention handling outliers.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data shape, trends, and initial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RFM is a standard method to quantify customer behavior. Mention why it works well for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different RFM groups highlight customer value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A6D6-72D2-89DA-0DB1-0DC849BF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B4233-CD31-5A98-C0E5-4349DC19F3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8CC90-DDD0-D940-83D1-EC1FEEDBD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different RFM groups highlight customer value differences.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F9CD3-296B-DDED-D3BF-81130DB04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77405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intuition behind each algorithm and why testing multiple approaches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how outliers affect K-Means (centroid distortion) and DBSCAN (core point density).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improvements after removing outlier.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challenges such as parameter sensitivity.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PCA is useful for visualizing high-dimensional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654C-096E-2E91-D5A4-FED1DAA90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8A2BB-C6E6-B336-ED0A-3D771CF76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FEE51-8D64-7ED4-A7A1-6436EA7CE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PCA is useful for visualizing high-dimensional clustering.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5F077-704C-6647-CC1B-2BBAEED78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00364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Quickly summarize what worked best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nfoupdate.org/tech-background-images/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chinelearningparatodos.com/segmentacion-utilizando-k-means-en-python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nclipart.org/detail/296351/desktop-computer-3" TargetMode="Externa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lviejoclub.blogspot.com/2009/02/outlier-regla-de-10000-horas.html" TargetMode="External"/><Relationship Id="rId5" Type="http://schemas.openxmlformats.org/officeDocument/2006/relationships/image" Target="../media/image27.jpg"/><Relationship Id="rId4" Type="http://schemas.openxmlformats.org/officeDocument/2006/relationships/image" Target="../media/image2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lopezcano.blogspot.com/2019/09/las-conclusiones-y-revision-de-l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Teamwork">
            <a:extLst>
              <a:ext uri="{FF2B5EF4-FFF2-40B4-BE49-F238E27FC236}">
                <a16:creationId xmlns:a16="http://schemas.microsoft.com/office/drawing/2014/main" id="{76C007AC-46EA-0D80-B8FB-FDD30F3CC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880" y="1012487"/>
            <a:ext cx="1866435" cy="1866435"/>
          </a:xfrm>
          <a:prstGeom prst="rect">
            <a:avLst/>
          </a:prstGeom>
        </p:spPr>
      </p:pic>
      <p:pic>
        <p:nvPicPr>
          <p:cNvPr id="21" name="Picture 20" descr="A blue and pink lights in a dark room&#10;&#10;AI-generated content may be incorrect.">
            <a:extLst>
              <a:ext uri="{FF2B5EF4-FFF2-40B4-BE49-F238E27FC236}">
                <a16:creationId xmlns:a16="http://schemas.microsoft.com/office/drawing/2014/main" id="{64E050BF-ED14-976A-9AA0-0D3F24317D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72173" y="3586297"/>
            <a:ext cx="3962337" cy="2644860"/>
          </a:xfrm>
          <a:prstGeom prst="rect">
            <a:avLst/>
          </a:prstGeom>
        </p:spPr>
      </p:pic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900" y="623275"/>
            <a:ext cx="385622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7374" y="1111796"/>
            <a:ext cx="3163604" cy="159722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dirty="0"/>
              <a:t>Online Retail Customer Segmentation</a:t>
            </a:r>
          </a:p>
        </p:txBody>
      </p:sp>
      <p:pic>
        <p:nvPicPr>
          <p:cNvPr id="17" name="Picture 16" descr="A blue robot with a line of pulse&#10;&#10;AI-generated content may be incorrect.">
            <a:extLst>
              <a:ext uri="{FF2B5EF4-FFF2-40B4-BE49-F238E27FC236}">
                <a16:creationId xmlns:a16="http://schemas.microsoft.com/office/drawing/2014/main" id="{E8DE151A-887A-C6B4-C4CC-ED3F5EC60E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3992" y="1012487"/>
            <a:ext cx="1866435" cy="1866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CB7EA7-5E83-4A22-1D2D-2F4779463703}"/>
              </a:ext>
            </a:extLst>
          </p:cNvPr>
          <p:cNvSpPr txBox="1"/>
          <p:nvPr/>
        </p:nvSpPr>
        <p:spPr>
          <a:xfrm>
            <a:off x="5167374" y="2998278"/>
            <a:ext cx="2763413" cy="189376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  </a:t>
            </a:r>
            <a:r>
              <a:rPr lang="en-US" sz="2200" dirty="0"/>
              <a:t>ML Group 4: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Brian </a:t>
            </a:r>
            <a:r>
              <a:rPr lang="en-US" sz="2200" dirty="0" err="1"/>
              <a:t>Ssekalegga</a:t>
            </a:r>
            <a:endParaRPr lang="en-US" sz="2200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Luis Curiel Rojas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Meisam Mofidi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Minling</a:t>
            </a:r>
            <a:r>
              <a:rPr lang="en-US" sz="2200" dirty="0"/>
              <a:t> Lian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603053"/>
            <a:ext cx="6056111" cy="1170663"/>
          </a:xfrm>
        </p:spPr>
        <p:txBody>
          <a:bodyPr anchor="ctr">
            <a:normAutofit/>
          </a:bodyPr>
          <a:lstStyle/>
          <a:p>
            <a:pPr algn="l"/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759" y="1845300"/>
            <a:ext cx="7370941" cy="2412207"/>
          </a:xfrm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/>
              <a:t>Unsupervised learning for customer segmentation</a:t>
            </a:r>
          </a:p>
          <a:p>
            <a:pPr>
              <a:lnSpc>
                <a:spcPct val="200000"/>
              </a:lnSpc>
            </a:pPr>
            <a:r>
              <a:rPr lang="en-CA" sz="2400" dirty="0"/>
              <a:t>Utilize RFM features (Recency, Frequency, Monetary)</a:t>
            </a:r>
          </a:p>
          <a:p>
            <a:pPr>
              <a:lnSpc>
                <a:spcPct val="200000"/>
              </a:lnSpc>
            </a:pPr>
            <a:r>
              <a:rPr lang="en-CA" sz="2400" dirty="0"/>
              <a:t>Goal: discover meaningful customer groups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C274DC-C69B-0B71-7927-682B2B191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126" y="4593495"/>
            <a:ext cx="2022771" cy="13045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15E20-E3C2-AC92-3B19-BC09D1DF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FFF622-E365-3A32-3E94-52D808246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BC21FAA-EC76-0A3C-F3FA-DA3E29A85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BBBC37-991A-7FC6-E324-B31243BE1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E50F-A678-CEFE-BF0C-F06716E8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29" y="1634187"/>
            <a:ext cx="7020042" cy="4013580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CA" sz="2400" dirty="0"/>
              <a:t>The project applies machine learning clustering algorithms to identify customer segments based on purchasing behaviors from historical product quantities, unit prices, and the frequencies of customers transactions.</a:t>
            </a:r>
          </a:p>
        </p:txBody>
      </p:sp>
      <p:pic>
        <p:nvPicPr>
          <p:cNvPr id="4" name="Picture 3" descr="A group of people standing in a circle&#10;&#10;AI-generated content may be incorrect.">
            <a:extLst>
              <a:ext uri="{FF2B5EF4-FFF2-40B4-BE49-F238E27FC236}">
                <a16:creationId xmlns:a16="http://schemas.microsoft.com/office/drawing/2014/main" id="{E5D64567-DEC5-8467-1DFA-5F8291F2D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909870" y="4103543"/>
            <a:ext cx="4661460" cy="166504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4FF87CE-4568-22BA-AC19-46C1491A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603054"/>
            <a:ext cx="6056111" cy="1060494"/>
          </a:xfrm>
        </p:spPr>
        <p:txBody>
          <a:bodyPr anchor="ctr">
            <a:normAutofit/>
          </a:bodyPr>
          <a:lstStyle/>
          <a:p>
            <a:pPr algn="l"/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Project Methodology</a:t>
            </a:r>
          </a:p>
        </p:txBody>
      </p:sp>
    </p:spTree>
    <p:extLst>
      <p:ext uri="{BB962C8B-B14F-4D97-AF65-F5344CB8AC3E}">
        <p14:creationId xmlns:p14="http://schemas.microsoft.com/office/powerpoint/2010/main" val="94195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965C6-9C06-460E-EBFD-C7B62CC24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55BDA2-3AA0-FC28-27FD-47B8F87BA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A8C7652-1A79-9BDD-5B6C-6773F36B1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AB1799-C38B-6DA8-E913-12245E197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B46A7-62E8-678B-BEA6-8B66BFEDE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531345"/>
            <a:ext cx="7182544" cy="444363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CA" sz="2200" dirty="0"/>
              <a:t>The clustering results can guide the business to </a:t>
            </a:r>
          </a:p>
          <a:p>
            <a:pPr marL="0" indent="0">
              <a:buNone/>
            </a:pPr>
            <a:r>
              <a:rPr lang="en-CA" sz="2200" b="1" dirty="0"/>
              <a:t>allocate marketing and inventory resources more efficiently</a:t>
            </a:r>
            <a:r>
              <a:rPr lang="en-CA" sz="2200" dirty="0"/>
              <a:t>. </a:t>
            </a:r>
            <a:br>
              <a:rPr lang="en-CA" sz="2200" dirty="0"/>
            </a:br>
            <a:br>
              <a:rPr lang="en-CA" sz="2200" dirty="0"/>
            </a:br>
            <a:r>
              <a:rPr lang="en-CA" sz="2200" dirty="0"/>
              <a:t>By identifying high-value segments, such as frequent buyers or high spenders, the company can focus promotions, loyalty rewards, and personalized offers on the customers who generate the greatest revenue. </a:t>
            </a:r>
            <a:br>
              <a:rPr lang="en-CA" sz="2200" dirty="0"/>
            </a:br>
            <a:br>
              <a:rPr lang="en-CA" sz="2200" dirty="0"/>
            </a:br>
            <a:r>
              <a:rPr lang="en-CA" sz="2200" dirty="0"/>
              <a:t>At the same time, lower-value or infrequent customers can be targeted with re-engagement campaigns. This segmentation ensures </a:t>
            </a:r>
            <a:r>
              <a:rPr lang="en-CA" sz="2200" b="1" dirty="0"/>
              <a:t>optimized marketing spend, better inventory planning, and increased customer lifetime value</a:t>
            </a:r>
            <a:r>
              <a:rPr lang="en-CA" sz="2200" dirty="0"/>
              <a:t>, ultimately improving overall profitability.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782B4-AE27-14CB-3182-D914449C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603054"/>
            <a:ext cx="6056111" cy="1060494"/>
          </a:xfrm>
        </p:spPr>
        <p:txBody>
          <a:bodyPr anchor="ctr">
            <a:normAutofit/>
          </a:bodyPr>
          <a:lstStyle/>
          <a:p>
            <a:pPr algn="l"/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Project Targets</a:t>
            </a:r>
          </a:p>
        </p:txBody>
      </p:sp>
    </p:spTree>
    <p:extLst>
      <p:ext uri="{BB962C8B-B14F-4D97-AF65-F5344CB8AC3E}">
        <p14:creationId xmlns:p14="http://schemas.microsoft.com/office/powerpoint/2010/main" val="315114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F7110-12DF-1CBA-D198-921263B3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1B8299-6BD4-A5E6-6B0C-984030E09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D73DB81-0158-6A4B-5650-9D4ADA442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20111A-A90C-B605-93E4-95B4536CA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13" descr="A graph with a green square and black line&#10;&#10;AI-generated content may be incorrect.">
            <a:extLst>
              <a:ext uri="{FF2B5EF4-FFF2-40B4-BE49-F238E27FC236}">
                <a16:creationId xmlns:a16="http://schemas.microsoft.com/office/drawing/2014/main" id="{E8E02DEC-7124-C162-23C8-D7E62E0FE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0603" y="1667331"/>
            <a:ext cx="7181850" cy="2356011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pic>
        <p:nvPicPr>
          <p:cNvPr id="4" name="Content Placeholder 1" descr="A screenshot of a graph&#10;&#10;AI-generated content may be incorrect.">
            <a:extLst>
              <a:ext uri="{FF2B5EF4-FFF2-40B4-BE49-F238E27FC236}">
                <a16:creationId xmlns:a16="http://schemas.microsoft.com/office/drawing/2014/main" id="{4D2E8117-0895-046C-914E-23FF8D748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52" y="3866494"/>
            <a:ext cx="7181851" cy="209604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2A12345-B5A1-9488-F128-8B278D21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603054"/>
            <a:ext cx="6056111" cy="1064278"/>
          </a:xfrm>
        </p:spPr>
        <p:txBody>
          <a:bodyPr anchor="ctr">
            <a:normAutofit/>
          </a:bodyPr>
          <a:lstStyle/>
          <a:p>
            <a:pPr algn="l"/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Model Results</a:t>
            </a:r>
          </a:p>
        </p:txBody>
      </p:sp>
    </p:spTree>
    <p:extLst>
      <p:ext uri="{BB962C8B-B14F-4D97-AF65-F5344CB8AC3E}">
        <p14:creationId xmlns:p14="http://schemas.microsoft.com/office/powerpoint/2010/main" val="388727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525B0-DA35-223C-BB67-7A6851F5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16750B-B648-94CC-F50B-C7893E7B1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80702D8-EAEE-9081-A89C-9800F514D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E4B1D-A909-D6C7-AA9F-58614877A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6A7D-EAE6-5B94-7405-2E238E6B2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526" y="1667332"/>
            <a:ext cx="7182544" cy="440879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CA" sz="2000" dirty="0"/>
              <a:t>Three clusters are identified to help the business tailor its strategy:</a:t>
            </a:r>
          </a:p>
          <a:p>
            <a:r>
              <a:rPr lang="en-CA" sz="2000" b="1" dirty="0">
                <a:solidFill>
                  <a:srgbClr val="7030A0"/>
                </a:solidFill>
              </a:rPr>
              <a:t>Cluster 0 (low-value customers):</a:t>
            </a:r>
            <a:r>
              <a:rPr lang="en-CA" sz="2000" dirty="0">
                <a:solidFill>
                  <a:srgbClr val="7030A0"/>
                </a:solidFill>
              </a:rPr>
              <a:t> </a:t>
            </a:r>
            <a:r>
              <a:rPr lang="en-CA" sz="2000" dirty="0"/>
              <a:t>use low-cost marketing or re-engagement campaigns without overspending on acquisition.</a:t>
            </a:r>
          </a:p>
          <a:p>
            <a:r>
              <a:rPr lang="en-CA" sz="2000" b="1" dirty="0">
                <a:solidFill>
                  <a:srgbClr val="7030A0"/>
                </a:solidFill>
              </a:rPr>
              <a:t>Cluster 1 (moderate customers):</a:t>
            </a:r>
            <a:r>
              <a:rPr lang="en-CA" sz="2000" dirty="0">
                <a:solidFill>
                  <a:srgbClr val="7030A0"/>
                </a:solidFill>
              </a:rPr>
              <a:t> </a:t>
            </a:r>
            <a:r>
              <a:rPr lang="en-CA" sz="2000" dirty="0"/>
              <a:t>target with promotions to increase spending and move them toward high-value status.</a:t>
            </a:r>
          </a:p>
          <a:p>
            <a:r>
              <a:rPr lang="en-CA" sz="2000" b="1" dirty="0">
                <a:solidFill>
                  <a:srgbClr val="7030A0"/>
                </a:solidFill>
              </a:rPr>
              <a:t>Cluster 2 (high-value customers):</a:t>
            </a:r>
            <a:r>
              <a:rPr lang="en-CA" sz="2000" dirty="0">
                <a:solidFill>
                  <a:srgbClr val="7030A0"/>
                </a:solidFill>
              </a:rPr>
              <a:t> </a:t>
            </a:r>
            <a:r>
              <a:rPr lang="en-CA" sz="2000" dirty="0"/>
              <a:t>prioritize with loyalty rewards and personalized offers to maximize retention and revenue.</a:t>
            </a:r>
          </a:p>
          <a:p>
            <a:pPr marL="0" indent="0">
              <a:buNone/>
            </a:pPr>
            <a:br>
              <a:rPr lang="en-CA" sz="2000" dirty="0"/>
            </a:br>
            <a:r>
              <a:rPr lang="en-CA" sz="2000" dirty="0"/>
              <a:t>Together, these insights allow the company to </a:t>
            </a:r>
            <a:r>
              <a:rPr lang="en-CA" sz="2000" b="1" dirty="0"/>
              <a:t>optimize marketing budget, improve retention, and increase profitability</a:t>
            </a:r>
            <a:r>
              <a:rPr lang="en-CA" sz="200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1E2C3-7272-AFD3-594F-8476529AB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603054"/>
            <a:ext cx="6056111" cy="1064278"/>
          </a:xfrm>
        </p:spPr>
        <p:txBody>
          <a:bodyPr anchor="ctr">
            <a:normAutofit/>
          </a:bodyPr>
          <a:lstStyle/>
          <a:p>
            <a:pPr algn="l"/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Business Application</a:t>
            </a:r>
          </a:p>
        </p:txBody>
      </p:sp>
    </p:spTree>
    <p:extLst>
      <p:ext uri="{BB962C8B-B14F-4D97-AF65-F5344CB8AC3E}">
        <p14:creationId xmlns:p14="http://schemas.microsoft.com/office/powerpoint/2010/main" val="567525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FFBC4-DE15-9C98-E953-F6930B74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B2B038-2AFE-BE08-8FDF-C01F2D983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0A6E3AFF-8CE2-9906-212A-BA8051F76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2249B4-DF8F-141C-EE42-A667D0BE8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B5635-69B7-879D-D8DE-84DDBCD33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526" y="1667332"/>
            <a:ext cx="7182544" cy="4408798"/>
          </a:xfrm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/>
              <a:t>Deploy model on AWS or GCP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Build dashboard for real-time insights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Explore supervised models for customer lifetime prediction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C75B20-36B0-66D4-119C-DD9E0BB9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603054"/>
            <a:ext cx="6056111" cy="1064278"/>
          </a:xfrm>
        </p:spPr>
        <p:txBody>
          <a:bodyPr anchor="ctr">
            <a:normAutofit/>
          </a:bodyPr>
          <a:lstStyle/>
          <a:p>
            <a:pPr algn="l"/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Future 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2136A-7AEC-FF2E-AA01-2171199EB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400" y="3609015"/>
            <a:ext cx="1967542" cy="237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9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A9ADD-B366-498A-34EF-696F4ED2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48383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7030A0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59698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CA" sz="3850" dirty="0">
                <a:solidFill>
                  <a:schemeClr val="accent1">
                    <a:lumMod val="75000"/>
                  </a:schemeClr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CA" sz="2400" dirty="0"/>
              <a:t>Online Retail dataset – UK-based gift retailer</a:t>
            </a:r>
          </a:p>
          <a:p>
            <a:r>
              <a:rPr lang="en-CA" sz="2400" dirty="0"/>
              <a:t>2010–2011 transactions</a:t>
            </a:r>
          </a:p>
          <a:p>
            <a:r>
              <a:rPr lang="en-CA" sz="2400" dirty="0"/>
              <a:t>~541K records</a:t>
            </a:r>
          </a:p>
          <a:p>
            <a:r>
              <a:rPr lang="en-CA" sz="2400" dirty="0"/>
              <a:t>Key fields: </a:t>
            </a:r>
            <a:r>
              <a:rPr lang="en-CA" sz="2400" dirty="0" err="1"/>
              <a:t>InvoiceNo</a:t>
            </a:r>
            <a:r>
              <a:rPr lang="en-CA" sz="2400" dirty="0"/>
              <a:t>, </a:t>
            </a:r>
            <a:r>
              <a:rPr lang="en-CA" sz="2400" dirty="0" err="1"/>
              <a:t>StockCode</a:t>
            </a:r>
            <a:r>
              <a:rPr lang="en-CA" sz="2400" dirty="0"/>
              <a:t>, Quantity, Date, Price, Country, </a:t>
            </a:r>
            <a:r>
              <a:rPr lang="en-CA" sz="2400" dirty="0" err="1"/>
              <a:t>CustomerID</a:t>
            </a:r>
            <a:endParaRPr lang="en-CA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ow">
            <a:extLst>
              <a:ext uri="{FF2B5EF4-FFF2-40B4-BE49-F238E27FC236}">
                <a16:creationId xmlns:a16="http://schemas.microsoft.com/office/drawing/2014/main" id="{EA25365B-7DA9-687F-C247-B9B855786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400" dirty="0">
                <a:solidFill>
                  <a:schemeClr val="accent1">
                    <a:lumMod val="75000"/>
                  </a:schemeClr>
                </a:solidFill>
              </a:rP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802962" cy="2800395"/>
          </a:xfrm>
        </p:spPr>
        <p:txBody>
          <a:bodyPr anchor="t">
            <a:normAutofit/>
          </a:bodyPr>
          <a:lstStyle/>
          <a:p>
            <a:r>
              <a:rPr lang="en-CA" sz="2400" dirty="0"/>
              <a:t>Removed cancellations &amp; invalid transactions</a:t>
            </a:r>
          </a:p>
          <a:p>
            <a:r>
              <a:rPr lang="en-CA" sz="2400" dirty="0"/>
              <a:t>Added Year, Month, Subtotal, Cancellation Flag</a:t>
            </a:r>
          </a:p>
          <a:p>
            <a:r>
              <a:rPr lang="en-CA" sz="2400" dirty="0"/>
              <a:t>Handled missing </a:t>
            </a:r>
            <a:r>
              <a:rPr lang="en-CA" sz="2400" dirty="0" err="1"/>
              <a:t>CustomerID</a:t>
            </a:r>
            <a:endParaRPr lang="en-CA" sz="2400" dirty="0"/>
          </a:p>
          <a:p>
            <a:r>
              <a:rPr lang="en-CA" sz="2400" dirty="0"/>
              <a:t>Final dataset ~538K rows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CA" sz="3500" dirty="0">
                <a:solidFill>
                  <a:srgbClr val="FFFFFF"/>
                </a:solidFill>
              </a:rPr>
              <a:t>Exploratory Data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2860F6-E8C0-B9E9-2B09-DE6ABFB8B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4139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A9C42-066E-E167-0796-AAFE3E06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Revenue by country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81A55C95-D19D-EC63-62A6-FF40618EA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8447" y="942805"/>
            <a:ext cx="4616069" cy="512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80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53F8E-DA87-2374-A1BC-101391B9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Top-selling products</a:t>
            </a:r>
          </a:p>
        </p:txBody>
      </p:sp>
      <p:pic>
        <p:nvPicPr>
          <p:cNvPr id="5" name="Content Placeholder 4" descr="A black and white list with white text&#10;&#10;AI-generated content may be incorrect.">
            <a:extLst>
              <a:ext uri="{FF2B5EF4-FFF2-40B4-BE49-F238E27FC236}">
                <a16:creationId xmlns:a16="http://schemas.microsoft.com/office/drawing/2014/main" id="{8A7253A8-F29E-6097-38EB-C1A452970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5566" y="1252780"/>
            <a:ext cx="5016153" cy="433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64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2102C-4DE6-FD17-7D11-2C332B81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E860B09D-655D-E298-49F8-E7F5AAABF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63AE2-1B56-3A95-7A14-C5E3D667A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Top-selling products</a:t>
            </a:r>
          </a:p>
        </p:txBody>
      </p:sp>
      <p:pic>
        <p:nvPicPr>
          <p:cNvPr id="6" name="Content Placeholder 3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E49D3688-3173-A53A-F8A9-211EBCF23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490" y="1941802"/>
            <a:ext cx="6641061" cy="415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98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350196"/>
            <a:ext cx="5543009" cy="1624520"/>
          </a:xfrm>
        </p:spPr>
        <p:txBody>
          <a:bodyPr anchor="ctr">
            <a:normAutofit/>
          </a:bodyPr>
          <a:lstStyle/>
          <a:p>
            <a:r>
              <a:rPr lang="en-CA" sz="3500" dirty="0">
                <a:solidFill>
                  <a:schemeClr val="accent1">
                    <a:lumMod val="75000"/>
                  </a:schemeClr>
                </a:solidFill>
              </a:rPr>
              <a:t>RFM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44" y="1393825"/>
            <a:ext cx="6501479" cy="407035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CA" sz="2400" dirty="0"/>
              <a:t>Customers are scored on 1–5 scale for each metric.</a:t>
            </a:r>
          </a:p>
          <a:p>
            <a:r>
              <a:rPr lang="en-CA" sz="2400" dirty="0"/>
              <a:t>Recency – days since last purchase</a:t>
            </a:r>
          </a:p>
          <a:p>
            <a:r>
              <a:rPr lang="en-CA" sz="2400" dirty="0"/>
              <a:t>Frequency – number of purchases</a:t>
            </a:r>
          </a:p>
          <a:p>
            <a:r>
              <a:rPr lang="en-CA" sz="2400" dirty="0"/>
              <a:t>Monetary – total amount spent</a:t>
            </a:r>
          </a:p>
        </p:txBody>
      </p:sp>
      <p:pic>
        <p:nvPicPr>
          <p:cNvPr id="5" name="Picture 4" descr="Periodic table of elements">
            <a:extLst>
              <a:ext uri="{FF2B5EF4-FFF2-40B4-BE49-F238E27FC236}">
                <a16:creationId xmlns:a16="http://schemas.microsoft.com/office/drawing/2014/main" id="{610BCB60-A565-C997-2CE1-F34BA10C69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98" r="26719"/>
          <a:stretch>
            <a:fillRect/>
          </a:stretch>
        </p:blipFill>
        <p:spPr>
          <a:xfrm>
            <a:off x="7072832" y="1"/>
            <a:ext cx="20762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293338"/>
            <a:ext cx="6858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RFM Distribution &amp; Interpretation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748A2-F4CB-0387-0BBC-48DBB738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007244E4-A442-7945-BDC5-C67EA10E8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4935" y="685844"/>
            <a:ext cx="8154129" cy="2099687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431B1-113D-CBC1-9C61-41B85B279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36" y="3106512"/>
            <a:ext cx="6677046" cy="3108020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b="1" dirty="0">
                <a:solidFill>
                  <a:srgbClr val="7030A0"/>
                </a:solidFill>
              </a:rPr>
              <a:t>Recency represented</a:t>
            </a:r>
            <a:r>
              <a:rPr lang="en-CA" b="1" dirty="0"/>
              <a:t>: </a:t>
            </a:r>
            <a:r>
              <a:rPr lang="en-CA" dirty="0"/>
              <a:t>How long it’s been since the customer last made a purchase. Customers who bought something recently get </a:t>
            </a:r>
            <a:r>
              <a:rPr lang="en-CA" sz="3100" dirty="0"/>
              <a:t>higher scores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CA" dirty="0">
                <a:solidFill>
                  <a:srgbClr val="7030A0"/>
                </a:solidFill>
              </a:rPr>
              <a:t>5 = very recent, 1 = very old.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100" b="1" dirty="0">
                <a:solidFill>
                  <a:srgbClr val="7030A0"/>
                </a:solidFill>
              </a:rPr>
              <a:t>Frequency represented</a:t>
            </a:r>
            <a:r>
              <a:rPr lang="en-CA" b="1" dirty="0"/>
              <a:t>: </a:t>
            </a:r>
            <a:r>
              <a:rPr lang="en-CA" dirty="0"/>
              <a:t>How often the customer makes a purchase. People who buy more often get higher </a:t>
            </a:r>
            <a:br>
              <a:rPr lang="en-CA" dirty="0"/>
            </a:br>
            <a:r>
              <a:rPr lang="en-CA" sz="3100" dirty="0"/>
              <a:t>scores: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CA" dirty="0">
                <a:solidFill>
                  <a:srgbClr val="7030A0"/>
                </a:solidFill>
              </a:rPr>
              <a:t>5 = frequent buyer, 1 = rare.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100" b="1" dirty="0">
                <a:solidFill>
                  <a:srgbClr val="7030A0"/>
                </a:solidFill>
              </a:rPr>
              <a:t>Monetary represent</a:t>
            </a:r>
            <a:r>
              <a:rPr lang="en-CA" b="1" dirty="0"/>
              <a:t>: </a:t>
            </a:r>
            <a:r>
              <a:rPr lang="en-CA" dirty="0"/>
              <a:t>How much money the customer has spent in total. Customers who spend more get higher scores: </a:t>
            </a:r>
            <a:br>
              <a:rPr lang="en-CA" dirty="0"/>
            </a:br>
            <a:r>
              <a:rPr lang="en-CA" dirty="0">
                <a:solidFill>
                  <a:srgbClr val="7030A0"/>
                </a:solidFill>
              </a:rPr>
              <a:t>5 = high spender, 1 = low spender.</a:t>
            </a:r>
          </a:p>
          <a:p>
            <a:pPr marL="0" indent="0" defTabSz="914400">
              <a:spcBef>
                <a:spcPts val="1000"/>
              </a:spcBef>
              <a:buNone/>
            </a:pPr>
            <a:endParaRPr lang="en-US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 descr="A computer monitor and keyboard&#10;&#10;AI-generated content may be incorrect.">
            <a:extLst>
              <a:ext uri="{FF2B5EF4-FFF2-40B4-BE49-F238E27FC236}">
                <a16:creationId xmlns:a16="http://schemas.microsoft.com/office/drawing/2014/main" id="{0EEFC9AB-7ECE-10F5-1D40-99AC81D37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857628" y="4239710"/>
            <a:ext cx="2082777" cy="232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69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CA" sz="3500" dirty="0">
                <a:solidFill>
                  <a:schemeClr val="accent1">
                    <a:lumMod val="75000"/>
                  </a:schemeClr>
                </a:solidFill>
              </a:rPr>
              <a:t>Algorithms Explored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31" y="1645657"/>
            <a:ext cx="5164432" cy="3769835"/>
          </a:xfrm>
        </p:spPr>
        <p:txBody>
          <a:bodyPr anchor="ctr">
            <a:normAutofit/>
          </a:bodyPr>
          <a:lstStyle/>
          <a:p>
            <a:r>
              <a:rPr lang="en-CA" sz="2800" dirty="0"/>
              <a:t>K-Means clustering</a:t>
            </a:r>
          </a:p>
          <a:p>
            <a:r>
              <a:rPr lang="en-CA" sz="2800" dirty="0"/>
              <a:t>DBSCAN clustering</a:t>
            </a:r>
          </a:p>
          <a:p>
            <a:r>
              <a:rPr lang="en-CA" sz="2800" dirty="0"/>
              <a:t>Used both for comparison</a:t>
            </a:r>
          </a:p>
          <a:p>
            <a:pPr lvl="2"/>
            <a:r>
              <a:rPr lang="en-CA" sz="2800" dirty="0"/>
              <a:t>Elbow + Silhouette Score</a:t>
            </a:r>
          </a:p>
        </p:txBody>
      </p:sp>
      <p:pic>
        <p:nvPicPr>
          <p:cNvPr id="5" name="Picture 4" descr="A hand holding a chess piece&#10;&#10;AI-generated content may be incorrect.">
            <a:extLst>
              <a:ext uri="{FF2B5EF4-FFF2-40B4-BE49-F238E27FC236}">
                <a16:creationId xmlns:a16="http://schemas.microsoft.com/office/drawing/2014/main" id="{5B77D2EE-0E8C-FED8-1748-321CF9FC48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41" r="19781" b="-1"/>
          <a:stretch>
            <a:fillRect/>
          </a:stretch>
        </p:blipFill>
        <p:spPr>
          <a:xfrm>
            <a:off x="5464629" y="-10886"/>
            <a:ext cx="3679371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52" y="1134962"/>
            <a:ext cx="4351438" cy="859195"/>
          </a:xfrm>
        </p:spPr>
        <p:txBody>
          <a:bodyPr anchor="b">
            <a:normAutofit/>
          </a:bodyPr>
          <a:lstStyle/>
          <a:p>
            <a:pPr algn="l"/>
            <a:r>
              <a:rPr lang="en-CA" sz="3500" dirty="0">
                <a:solidFill>
                  <a:schemeClr val="accent1">
                    <a:lumMod val="75000"/>
                  </a:schemeClr>
                </a:solidFill>
              </a:rPr>
              <a:t>Outlier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352" y="2565740"/>
            <a:ext cx="5646968" cy="2081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A customer 'guest-United Kingdom' had extreme values which distorted cluster boundaries and we removed it for cleaner segmentation</a:t>
            </a:r>
          </a:p>
        </p:txBody>
      </p:sp>
      <p:pic>
        <p:nvPicPr>
          <p:cNvPr id="9" name="Graphic 8" descr="Table">
            <a:extLst>
              <a:ext uri="{FF2B5EF4-FFF2-40B4-BE49-F238E27FC236}">
                <a16:creationId xmlns:a16="http://schemas.microsoft.com/office/drawing/2014/main" id="{8D8B3FC1-44B0-4755-882E-6652BB71B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1073" y="1469503"/>
            <a:ext cx="3918995" cy="3918995"/>
          </a:xfrm>
          <a:prstGeom prst="rect">
            <a:avLst/>
          </a:prstGeom>
        </p:spPr>
      </p:pic>
      <p:pic>
        <p:nvPicPr>
          <p:cNvPr id="5" name="Picture 4" descr="A group of cartoon characters&#10;&#10;AI-generated content may be incorrect.">
            <a:extLst>
              <a:ext uri="{FF2B5EF4-FFF2-40B4-BE49-F238E27FC236}">
                <a16:creationId xmlns:a16="http://schemas.microsoft.com/office/drawing/2014/main" id="{3F1E78FF-BFEE-8F7F-CC15-FCAAF69EA1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93050" y="4568102"/>
            <a:ext cx="3810000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CA" sz="3500" dirty="0">
                <a:solidFill>
                  <a:schemeClr val="accent1">
                    <a:lumMod val="75000"/>
                  </a:schemeClr>
                </a:solidFill>
              </a:rPr>
              <a:t>K-Means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025" y="2281045"/>
            <a:ext cx="4000647" cy="22850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CA" sz="2800" dirty="0"/>
          </a:p>
          <a:p>
            <a:r>
              <a:rPr lang="en-CA" sz="2800" dirty="0"/>
              <a:t>Elbow plot</a:t>
            </a:r>
          </a:p>
          <a:p>
            <a:r>
              <a:rPr lang="en-CA" sz="2800" dirty="0"/>
              <a:t>Silhouette plot</a:t>
            </a:r>
          </a:p>
          <a:p>
            <a:r>
              <a:rPr lang="en-CA" sz="2800" dirty="0"/>
              <a:t>Cluster scatter plots</a:t>
            </a:r>
          </a:p>
        </p:txBody>
      </p:sp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E39FB321-D402-2E26-9FDA-9DD3A929DC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45" r="29932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400" dirty="0"/>
              <a:t>DBSCAN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CA" sz="2100" dirty="0"/>
              <a:t>Parameter tuning visuals</a:t>
            </a:r>
          </a:p>
          <a:p>
            <a:r>
              <a:rPr lang="en-CA" sz="2100" dirty="0"/>
              <a:t>Silhouette or cluster map</a:t>
            </a:r>
          </a:p>
          <a:p>
            <a:r>
              <a:rPr lang="en-CA" sz="2100" dirty="0"/>
              <a:t>Cluster distribution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CA" sz="2700"/>
              <a:t>Model Interpretation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4" y="1648870"/>
            <a:ext cx="3724737" cy="3560260"/>
          </a:xfrm>
        </p:spPr>
        <p:txBody>
          <a:bodyPr anchor="ctr">
            <a:normAutofit/>
          </a:bodyPr>
          <a:lstStyle/>
          <a:p>
            <a:r>
              <a:rPr lang="en-CA" sz="2400" dirty="0"/>
              <a:t>PCA used to visualize clusters</a:t>
            </a:r>
          </a:p>
          <a:p>
            <a:r>
              <a:rPr lang="en-CA" sz="2400" dirty="0"/>
              <a:t>Clusters reflect spending patterns</a:t>
            </a:r>
          </a:p>
          <a:p>
            <a:r>
              <a:rPr lang="en-CA" sz="2400" dirty="0"/>
              <a:t>Identified high-value vs low-frequency customers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38781-D730-BE19-D66B-B40C73664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D05129-EB14-9770-B612-B96F7D21D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28C5397-A06F-AF6C-8C31-A0EFAD2BA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CA93A3-F51C-065A-2ED1-BC0DA632B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79629-79A4-5F23-AC0B-09AB3DBF7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CA" sz="2700" dirty="0"/>
              <a:t>Model Interpretation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5A2D7A-81BC-76C4-D721-3C65888A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9AB95-18AC-2DDE-5D14-07A6F2CB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4" y="1648870"/>
            <a:ext cx="3724737" cy="356026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Cluster Characteristics (Placeholder)</a:t>
            </a:r>
            <a:endParaRPr lang="en-CA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C81B1C-5F8B-A256-79CA-6ED369CB1F7D}"/>
              </a:ext>
            </a:extLst>
          </p:cNvPr>
          <p:cNvSpPr txBox="1">
            <a:spLocks/>
          </p:cNvSpPr>
          <p:nvPr/>
        </p:nvSpPr>
        <p:spPr>
          <a:xfrm>
            <a:off x="542831" y="1188637"/>
            <a:ext cx="7794344" cy="1198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rPr lang="en-US" dirty="0">
                <a:solidFill>
                  <a:srgbClr val="FFFFFF"/>
                </a:solidFill>
              </a:rPr>
              <a:t>📍 </a:t>
            </a:r>
            <a:r>
              <a:rPr lang="en-US" dirty="0"/>
              <a:t>Insert PCA plots + cluster summary tables.</a:t>
            </a:r>
          </a:p>
        </p:txBody>
      </p:sp>
    </p:spTree>
    <p:extLst>
      <p:ext uri="{BB962C8B-B14F-4D97-AF65-F5344CB8AC3E}">
        <p14:creationId xmlns:p14="http://schemas.microsoft.com/office/powerpoint/2010/main" val="1354164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6854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600"/>
            <a:ext cx="5123391" cy="1322887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291" y="2194102"/>
            <a:ext cx="5495875" cy="3908585"/>
          </a:xfrm>
        </p:spPr>
        <p:txBody>
          <a:bodyPr>
            <a:noAutofit/>
          </a:bodyPr>
          <a:lstStyle/>
          <a:p>
            <a:r>
              <a:rPr lang="en-CA" sz="2800" dirty="0"/>
              <a:t>K-Means (after removing outlier) produced best segmentation</a:t>
            </a:r>
          </a:p>
          <a:p>
            <a:r>
              <a:rPr lang="en-CA" sz="2800" dirty="0"/>
              <a:t>Clear cluster separation</a:t>
            </a:r>
          </a:p>
          <a:p>
            <a:r>
              <a:rPr lang="en-CA" sz="2800" dirty="0"/>
              <a:t>Helps identify high-value customers</a:t>
            </a:r>
          </a:p>
          <a:p>
            <a:r>
              <a:rPr lang="en-CA" sz="2800" dirty="0"/>
              <a:t>Supports targeted marketing</a:t>
            </a:r>
          </a:p>
        </p:txBody>
      </p:sp>
      <p:pic>
        <p:nvPicPr>
          <p:cNvPr id="6" name="Picture 5" descr="A blue person holding a pencil&#10;&#10;AI-generated content may be incorrect.">
            <a:extLst>
              <a:ext uri="{FF2B5EF4-FFF2-40B4-BE49-F238E27FC236}">
                <a16:creationId xmlns:a16="http://schemas.microsoft.com/office/drawing/2014/main" id="{9F6417A6-688D-77EE-0A8E-9D84D0402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28940" y="1335989"/>
            <a:ext cx="2214275" cy="381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839</Words>
  <Application>Microsoft Office PowerPoint</Application>
  <PresentationFormat>On-screen Show (4:3)</PresentationFormat>
  <Paragraphs>101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Online Retail Customer Segmentation</vt:lpstr>
      <vt:lpstr>Project Overview</vt:lpstr>
      <vt:lpstr>Project Methodology</vt:lpstr>
      <vt:lpstr>Project Targets</vt:lpstr>
      <vt:lpstr>Model Results</vt:lpstr>
      <vt:lpstr>Business Application</vt:lpstr>
      <vt:lpstr>Future Work</vt:lpstr>
      <vt:lpstr>Appendix</vt:lpstr>
      <vt:lpstr>Dataset Overview</vt:lpstr>
      <vt:lpstr>Data Cleaning &amp; Preprocessing</vt:lpstr>
      <vt:lpstr>Exploratory Data Analysis</vt:lpstr>
      <vt:lpstr>Revenue by country</vt:lpstr>
      <vt:lpstr>Top-selling products</vt:lpstr>
      <vt:lpstr>Top-selling products</vt:lpstr>
      <vt:lpstr>RFM Feature Engineering</vt:lpstr>
      <vt:lpstr>RFM Distribution &amp; Interpretation</vt:lpstr>
      <vt:lpstr>PowerPoint Presentation</vt:lpstr>
      <vt:lpstr>Algorithms Explored</vt:lpstr>
      <vt:lpstr>Outlier Impact</vt:lpstr>
      <vt:lpstr>K-Means Results</vt:lpstr>
      <vt:lpstr>DBSCAN Results</vt:lpstr>
      <vt:lpstr>Model Interpretation</vt:lpstr>
      <vt:lpstr>Model Interpretation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MINLING LIAN</dc:creator>
  <cp:keywords/>
  <dc:description>generated using python-pptx</dc:description>
  <cp:lastModifiedBy>MINLING LIAN</cp:lastModifiedBy>
  <cp:revision>11</cp:revision>
  <dcterms:created xsi:type="dcterms:W3CDTF">2013-01-27T09:14:16Z</dcterms:created>
  <dcterms:modified xsi:type="dcterms:W3CDTF">2025-11-14T19:09:37Z</dcterms:modified>
  <cp:category/>
</cp:coreProperties>
</file>